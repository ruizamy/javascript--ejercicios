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  <p:sldId id="258" r:id="rId6"/>
    <p:sldId id="259" r:id="rId7"/>
    <p:sldId id="260" r:id="rId8"/>
    <p:sldId id="261" r:id="rId9"/>
    <p:sldId id="262" r:id="rId10"/>
    <p:sldId id="264" r:id="rId11"/>
    <p:sldId id="263" r:id="rId12"/>
    <p:sldId id="265" r:id="rId13"/>
    <p:sldId id="267" r:id="rId14"/>
    <p:sldId id="268" r:id="rId15"/>
    <p:sldId id="269" r:id="rId16"/>
    <p:sldId id="274" r:id="rId17"/>
    <p:sldId id="270" r:id="rId18"/>
    <p:sldId id="275" r:id="rId19"/>
    <p:sldId id="271" r:id="rId20"/>
    <p:sldId id="276" r:id="rId21"/>
    <p:sldId id="277" r:id="rId22"/>
    <p:sldId id="302" r:id="rId23"/>
    <p:sldId id="303" r:id="rId24"/>
    <p:sldId id="278" r:id="rId25"/>
    <p:sldId id="279" r:id="rId26"/>
    <p:sldId id="280" r:id="rId27"/>
    <p:sldId id="281" r:id="rId28"/>
    <p:sldId id="282" r:id="rId29"/>
    <p:sldId id="272" r:id="rId30"/>
    <p:sldId id="273" r:id="rId31"/>
    <p:sldId id="298" r:id="rId32"/>
    <p:sldId id="301" r:id="rId33"/>
    <p:sldId id="256" r:id="rId34"/>
    <p:sldId id="300" r:id="rId35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8F38FB-A561-4DA4-AC2C-230327E2B3D4}" v="1" dt="2024-08-04T22:46:36.4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544" autoAdjust="0"/>
    <p:restoredTop sz="94660"/>
  </p:normalViewPr>
  <p:slideViewPr>
    <p:cSldViewPr snapToGrid="0">
      <p:cViewPr varScale="1">
        <p:scale>
          <a:sx n="71" d="100"/>
          <a:sy n="71" d="100"/>
        </p:scale>
        <p:origin x="104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40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02B450-2840-1313-E03E-ACF327A45E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A3CB2C3-84C0-9442-9DBE-DAEE191E44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7903A02-9C30-9255-20AE-C0F8F1A36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4B272-1E65-4065-A465-DCBECA64219D}" type="datetimeFigureOut">
              <a:rPr lang="es-CO" smtClean="0"/>
              <a:t>10/04/2026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E601B12-BBBE-EAC0-CD05-6B5B5D446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DA6CC6E-19C3-1C3D-029C-F82441C79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BB778-AA15-4799-BFBF-D65DC80BC1C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82764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E8EDCA-A2C0-0A29-2ECF-A30308332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6F0DB93-E696-6D35-F937-8DB7943DE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046970B-B4D4-CD57-60F0-BD26A1EBB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4B272-1E65-4065-A465-DCBECA64219D}" type="datetimeFigureOut">
              <a:rPr lang="es-CO" smtClean="0"/>
              <a:t>10/04/2026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42F653-6A80-DF33-F52B-1CA00B085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545878D-5E71-F3FE-5B99-33DAB85AF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BB778-AA15-4799-BFBF-D65DC80BC1C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88446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D57E8A-6113-6948-5E87-2B2F32CD1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AB1981B-4E63-D28B-A69D-67F982E6EA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ADD4A6-43A8-13DB-AAA5-7F679BAEB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4B272-1E65-4065-A465-DCBECA64219D}" type="datetimeFigureOut">
              <a:rPr lang="es-CO" smtClean="0"/>
              <a:t>10/04/2026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AE0754-3946-686A-1E66-9D782D1B2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8AAB957-3F06-C881-AD89-7A07A983D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BB778-AA15-4799-BFBF-D65DC80BC1C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80672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4C2D26-E244-8D69-3B88-A72CE3258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6ADDC5B-C120-DC4B-24F3-36FB4F4EE2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D03173C-A457-A251-6007-B08487999C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63E9C25-FC1D-EED2-DA52-898C45193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4B272-1E65-4065-A465-DCBECA64219D}" type="datetimeFigureOut">
              <a:rPr lang="es-CO" smtClean="0"/>
              <a:t>10/04/2026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E0D95DB-5F07-DC19-D903-0A77509C8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38DF0FD-F78D-A025-F6BC-B62849D3F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BB778-AA15-4799-BFBF-D65DC80BC1C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40283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9D1131-F4C4-E0FA-AA68-513975549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D5F1F73-DEAB-0323-D4B1-9D2BE53D74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4D2F546-A49C-320C-783B-69C6637118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527781F-8BF8-A7AE-C60B-7EECCF3577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1D809F7-8421-0463-4003-2AD5989335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81BC306-08BC-9A75-253E-8B9280991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4B272-1E65-4065-A465-DCBECA64219D}" type="datetimeFigureOut">
              <a:rPr lang="es-CO" smtClean="0"/>
              <a:t>10/04/2026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B92D22D-8AC0-D0D4-5E0B-D1212D49F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AC79FC6-8028-45E2-C9C7-10B894202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BB778-AA15-4799-BFBF-D65DC80BC1C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6686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EA5C31-AE1D-02A1-4046-6E6BBB5DC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E808CB4-F9BA-6C62-C06B-21AB54278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4B272-1E65-4065-A465-DCBECA64219D}" type="datetimeFigureOut">
              <a:rPr lang="es-CO" smtClean="0"/>
              <a:t>10/04/2026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C63297A-B7C5-CDE1-F6C4-467303B75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774FF16-27A7-46AD-5224-C60B9963C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BB778-AA15-4799-BFBF-D65DC80BC1C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11273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3DE156E-780E-4865-0E03-6D9E3A21D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4B272-1E65-4065-A465-DCBECA64219D}" type="datetimeFigureOut">
              <a:rPr lang="es-CO" smtClean="0"/>
              <a:t>10/04/2026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88ED19D-84DE-FC97-C0A1-D72D04B23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0989A92-4746-4333-7B12-34CD3A812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BB778-AA15-4799-BFBF-D65DC80BC1C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94058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BC1A31-6A96-F217-DBC4-5BA759BEA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5B4FCB-BFE5-5BE9-05BB-645BEDFCE6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37C5AA2-C0EA-5906-53A7-0F7543EBBC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BBBE31D-21DC-4B8D-3FE2-B78907B5C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4B272-1E65-4065-A465-DCBECA64219D}" type="datetimeFigureOut">
              <a:rPr lang="es-CO" smtClean="0"/>
              <a:t>10/04/2026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ADEDAE7-F92F-723C-E92A-2277D39C9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C1AD274-F2D2-77BF-1CE0-503442384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BB778-AA15-4799-BFBF-D65DC80BC1C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91410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D861E3-0222-20DA-5E4A-BEB6D1396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0A09CCC-0356-8033-A1C8-E395BC21B2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E689BBF-43B8-1ADF-340B-3185325BCA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E64B7AB-D97B-099F-6D2E-3279B797D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4B272-1E65-4065-A465-DCBECA64219D}" type="datetimeFigureOut">
              <a:rPr lang="es-CO" smtClean="0"/>
              <a:t>10/04/2026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320EAC2-3A77-F19F-7EC4-F7317294D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F1A27FC-7DC2-EAEF-EDB9-7D6435FE7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BB778-AA15-4799-BFBF-D65DC80BC1C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13649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8166AB-F7D7-7809-E1B1-AEF1999F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625AA23-6CAE-8321-F9E4-6D644EEA0C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9AEAAFE-E90F-4145-3908-CB36ED5EB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4B272-1E65-4065-A465-DCBECA64219D}" type="datetimeFigureOut">
              <a:rPr lang="es-CO" smtClean="0"/>
              <a:t>10/04/2026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713424A-B551-95BC-843F-4529D7367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D35178D-123C-841F-488D-980960C0B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BB778-AA15-4799-BFBF-D65DC80BC1C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51045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7E4014F-6309-20C6-EA9A-2BCFFF8496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CBEB557-83D8-19C0-ED3E-392024F0F1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4EAF496-7D1C-EAC3-95C5-C8FB3592E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4B272-1E65-4065-A465-DCBECA64219D}" type="datetimeFigureOut">
              <a:rPr lang="es-CO" smtClean="0"/>
              <a:t>10/04/2026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081D044-0EFF-9E33-4CEA-F7049D18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8F182F5-5B0C-AF8E-80F1-6D4853535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BB778-AA15-4799-BFBF-D65DC80BC1C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94633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D27268B-6C19-59E4-03A6-4FFA5914F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D9F25CA-E52D-ED03-7E9A-07369E9C50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A2E5FF-956D-BD98-C558-7FDFEFBAF2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04B272-1E65-4065-A465-DCBECA64219D}" type="datetimeFigureOut">
              <a:rPr lang="es-CO" smtClean="0"/>
              <a:t>10/04/2026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7EDDA87-D2A6-7029-7B3A-0DF4026ABF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E561E2-FDE9-3232-4C16-FDBF620923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4BB778-AA15-4799-BFBF-D65DC80BC1C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15464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5" Type="http://schemas.openxmlformats.org/officeDocument/2006/relationships/slide" Target="slide6.xml"/><Relationship Id="rId4" Type="http://schemas.openxmlformats.org/officeDocument/2006/relationships/slide" Target="slide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js/js_let.asp" TargetMode="External"/><Relationship Id="rId2" Type="http://schemas.openxmlformats.org/officeDocument/2006/relationships/hyperlink" Target="https://www.w3schools.com/js/js_const.asp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10hVKeSwx88&amp;t=193s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ulascript.com/evaluar/arrays_inicio.html" TargetMode="External"/><Relationship Id="rId2" Type="http://schemas.openxmlformats.org/officeDocument/2006/relationships/hyperlink" Target="https://developer.mozilla.org/es/docs/Web/JavaScript/Guide/Expressions_and_operators#aritmeticos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digitallearning.es/intro-programacion-js/ejercicio-con-arrays.html" TargetMode="External"/><Relationship Id="rId4" Type="http://schemas.openxmlformats.org/officeDocument/2006/relationships/hyperlink" Target="https://platzi.com/blog/platzihero-practica-con-12-ejercicios-de-arrays-en-javascript-new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C573CF-A2F6-FE8D-B1FD-20BF225FB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3038"/>
            <a:ext cx="10391775" cy="485775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sz="4400" dirty="0"/>
              <a:t>Es un lenguaje de programación del lado del cliente.</a:t>
            </a:r>
          </a:p>
          <a:p>
            <a:pPr marL="0" indent="0" algn="just">
              <a:buNone/>
            </a:pPr>
            <a:r>
              <a:rPr lang="es-MX" sz="4400" dirty="0"/>
              <a:t>Es interpretado, no compilado.</a:t>
            </a:r>
          </a:p>
          <a:p>
            <a:pPr marL="0" indent="0" algn="just">
              <a:buNone/>
            </a:pPr>
            <a:r>
              <a:rPr lang="es-MX" sz="4400" dirty="0"/>
              <a:t>Es imperativo y estructurado.</a:t>
            </a:r>
          </a:p>
          <a:p>
            <a:pPr marL="0" indent="0" algn="just">
              <a:buNone/>
            </a:pPr>
            <a:r>
              <a:rPr lang="es-MX" sz="4400" dirty="0"/>
              <a:t>Es objetual, con tipificación débil y dinámica.</a:t>
            </a:r>
          </a:p>
          <a:p>
            <a:pPr marL="0" indent="0" algn="just">
              <a:buNone/>
            </a:pPr>
            <a:r>
              <a:rPr lang="es-MX" sz="4400" dirty="0"/>
              <a:t>Es orientado a objetos y basado en prototipos.</a:t>
            </a:r>
            <a:endParaRPr lang="es-CO" sz="440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727239C1-989D-0BE1-9BA8-F5A90423A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299"/>
            <a:ext cx="10515600" cy="885825"/>
          </a:xfrm>
        </p:spPr>
        <p:txBody>
          <a:bodyPr>
            <a:normAutofit/>
          </a:bodyPr>
          <a:lstStyle/>
          <a:p>
            <a:r>
              <a:rPr lang="es-CO" sz="4000" dirty="0"/>
              <a:t>JavaScript - Características</a:t>
            </a:r>
          </a:p>
        </p:txBody>
      </p:sp>
    </p:spTree>
    <p:extLst>
      <p:ext uri="{BB962C8B-B14F-4D97-AF65-F5344CB8AC3E}">
        <p14:creationId xmlns:p14="http://schemas.microsoft.com/office/powerpoint/2010/main" val="638203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C573CF-A2F6-FE8D-B1FD-20BF225FB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4413"/>
            <a:ext cx="10515600" cy="53721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b="1" i="0" dirty="0" err="1">
                <a:solidFill>
                  <a:srgbClr val="333333"/>
                </a:solidFill>
                <a:effectLst/>
                <a:latin typeface="Source Sans Pro" panose="020B0503030403020204" pitchFamily="34" charset="0"/>
              </a:rPr>
              <a:t>Javascript</a:t>
            </a:r>
            <a:r>
              <a:rPr lang="es-MX" b="1" i="0" dirty="0">
                <a:solidFill>
                  <a:srgbClr val="333333"/>
                </a:solidFill>
                <a:effectLst/>
                <a:latin typeface="Source Sans Pro" panose="020B0503030403020204" pitchFamily="34" charset="0"/>
              </a:rPr>
              <a:t> es un lenguaje interpretado por el navegador,</a:t>
            </a:r>
            <a:r>
              <a:rPr lang="es-MX" b="0" i="0" dirty="0">
                <a:solidFill>
                  <a:srgbClr val="333333"/>
                </a:solidFill>
                <a:effectLst/>
                <a:latin typeface="Source Sans Pro" panose="020B0503030403020204" pitchFamily="34" charset="0"/>
              </a:rPr>
              <a:t> por lo que el código que escribamos se ejecutará exactamente en el momento en que el navegador lo lea. Por tanto, para insertar código puede hacerse de dos maneras: </a:t>
            </a:r>
            <a:r>
              <a:rPr lang="es-MX" b="1" i="0" dirty="0">
                <a:solidFill>
                  <a:srgbClr val="333333"/>
                </a:solidFill>
                <a:effectLst/>
                <a:latin typeface="Source Sans Pro" panose="020B0503030403020204" pitchFamily="34" charset="0"/>
              </a:rPr>
              <a:t>escribirlo directamente</a:t>
            </a:r>
            <a:r>
              <a:rPr lang="es-MX" b="0" i="0" dirty="0">
                <a:solidFill>
                  <a:srgbClr val="333333"/>
                </a:solidFill>
                <a:effectLst/>
                <a:latin typeface="Source Sans Pro" panose="020B0503030403020204" pitchFamily="34" charset="0"/>
              </a:rPr>
              <a:t> o referenciarlo a través del </a:t>
            </a:r>
            <a:r>
              <a:rPr lang="es-MX" b="1" i="0" dirty="0">
                <a:solidFill>
                  <a:srgbClr val="333333"/>
                </a:solidFill>
                <a:effectLst/>
                <a:latin typeface="Source Sans Pro" panose="020B0503030403020204" pitchFamily="34" charset="0"/>
              </a:rPr>
              <a:t>nombre de un archivo externo con extensión .</a:t>
            </a:r>
            <a:r>
              <a:rPr lang="es-MX" b="1" i="0" dirty="0" err="1">
                <a:solidFill>
                  <a:srgbClr val="333333"/>
                </a:solidFill>
                <a:effectLst/>
                <a:latin typeface="Source Sans Pro" panose="020B0503030403020204" pitchFamily="34" charset="0"/>
              </a:rPr>
              <a:t>js</a:t>
            </a:r>
            <a:endParaRPr lang="es-MX" b="0" i="0" dirty="0">
              <a:solidFill>
                <a:srgbClr val="333333"/>
              </a:solidFill>
              <a:effectLst/>
              <a:latin typeface="Source Sans Pro" panose="020B0503030403020204" pitchFamily="34" charset="0"/>
            </a:endParaRPr>
          </a:p>
          <a:p>
            <a:pPr marL="0" indent="0" algn="just">
              <a:buNone/>
            </a:pPr>
            <a:r>
              <a:rPr lang="es-MX" b="0" i="0" dirty="0">
                <a:solidFill>
                  <a:srgbClr val="333333"/>
                </a:solidFill>
                <a:effectLst/>
                <a:latin typeface="Source Sans Pro" panose="020B0503030403020204" pitchFamily="34" charset="0"/>
              </a:rPr>
              <a:t>Si el código se encuentra en el </a:t>
            </a:r>
            <a:r>
              <a:rPr lang="es-MX" b="1" i="1" dirty="0">
                <a:effectLst/>
                <a:latin typeface="Source Sans Pro" panose="020B0503030403020204" pitchFamily="34" charset="0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head</a:t>
            </a:r>
            <a:r>
              <a:rPr lang="es-MX" b="0" i="0" dirty="0">
                <a:solidFill>
                  <a:srgbClr val="333333"/>
                </a:solidFill>
                <a:effectLst/>
                <a:latin typeface="Source Sans Pro" panose="020B0503030403020204" pitchFamily="34" charset="0"/>
              </a:rPr>
              <a:t>, se ejecutará </a:t>
            </a:r>
            <a:r>
              <a:rPr lang="es-MX" b="1" i="0" dirty="0">
                <a:solidFill>
                  <a:srgbClr val="333333"/>
                </a:solidFill>
                <a:effectLst/>
                <a:latin typeface="Source Sans Pro" panose="020B0503030403020204" pitchFamily="34" charset="0"/>
              </a:rPr>
              <a:t>antes</a:t>
            </a:r>
            <a:r>
              <a:rPr lang="es-MX" b="0" i="0" dirty="0">
                <a:solidFill>
                  <a:srgbClr val="333333"/>
                </a:solidFill>
                <a:effectLst/>
                <a:latin typeface="Source Sans Pro" panose="020B0503030403020204" pitchFamily="34" charset="0"/>
              </a:rPr>
              <a:t> de que se cargue el cuerpo de la página. Si lo incluimos en el </a:t>
            </a:r>
            <a:r>
              <a:rPr lang="es-MX" b="1" i="1" dirty="0">
                <a:effectLst/>
                <a:latin typeface="Source Sans Pro" panose="020B0503030403020204" pitchFamily="34" charset="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body</a:t>
            </a:r>
            <a:r>
              <a:rPr lang="es-MX" b="0" i="0" dirty="0">
                <a:solidFill>
                  <a:srgbClr val="333333"/>
                </a:solidFill>
                <a:effectLst/>
                <a:latin typeface="Source Sans Pro" panose="020B0503030403020204" pitchFamily="34" charset="0"/>
              </a:rPr>
              <a:t> (bien sea al principio, en el medio o al final) se ejecutará la posición en la que lo localicemos.</a:t>
            </a:r>
          </a:p>
          <a:p>
            <a:pPr marL="0" indent="0" algn="just">
              <a:buNone/>
            </a:pPr>
            <a:r>
              <a:rPr lang="es-MX" b="0" i="0" dirty="0">
                <a:solidFill>
                  <a:srgbClr val="333333"/>
                </a:solidFill>
                <a:effectLst/>
                <a:latin typeface="Source Sans Pro" panose="020B0503030403020204" pitchFamily="34" charset="0"/>
              </a:rPr>
              <a:t>Lo más adecuado, </a:t>
            </a:r>
            <a:r>
              <a:rPr lang="es-MX" b="1" i="0" dirty="0">
                <a:solidFill>
                  <a:srgbClr val="333333"/>
                </a:solidFill>
                <a:effectLst/>
                <a:latin typeface="Source Sans Pro" panose="020B0503030403020204" pitchFamily="34" charset="0"/>
              </a:rPr>
              <a:t>por razones de legibilidad, organización</a:t>
            </a:r>
            <a:r>
              <a:rPr lang="es-MX" b="0" i="0" dirty="0">
                <a:solidFill>
                  <a:srgbClr val="333333"/>
                </a:solidFill>
                <a:effectLst/>
                <a:latin typeface="Source Sans Pro" panose="020B0503030403020204" pitchFamily="34" charset="0"/>
              </a:rPr>
              <a:t>, etc. es </a:t>
            </a:r>
            <a:r>
              <a:rPr lang="es-MX" b="1" i="0" dirty="0">
                <a:solidFill>
                  <a:srgbClr val="333333"/>
                </a:solidFill>
                <a:effectLst/>
                <a:latin typeface="Source Sans Pro" panose="020B0503030403020204" pitchFamily="34" charset="0"/>
              </a:rPr>
              <a:t>colocarlo siempre como un </a:t>
            </a:r>
            <a:r>
              <a:rPr lang="es-MX" b="1" i="0" dirty="0">
                <a:effectLst/>
                <a:latin typeface="Source Sans Pro" panose="020B0503030403020204" pitchFamily="34" charset="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archivo externo</a:t>
            </a:r>
            <a:r>
              <a:rPr lang="es-MX" b="0" i="0" dirty="0">
                <a:solidFill>
                  <a:srgbClr val="333333"/>
                </a:solidFill>
                <a:effectLst/>
                <a:latin typeface="Source Sans Pro" panose="020B0503030403020204" pitchFamily="34" charset="0"/>
              </a:rPr>
              <a:t> entre las etiquetas de </a:t>
            </a:r>
            <a:r>
              <a:rPr lang="es-MX" b="1" i="1" dirty="0">
                <a:solidFill>
                  <a:srgbClr val="333333"/>
                </a:solidFill>
                <a:effectLst/>
                <a:latin typeface="Source Sans Pro" panose="020B0503030403020204" pitchFamily="34" charset="0"/>
              </a:rPr>
              <a:t>head</a:t>
            </a:r>
            <a:endParaRPr lang="es-MX" b="0" i="0" dirty="0">
              <a:solidFill>
                <a:srgbClr val="333333"/>
              </a:solidFill>
              <a:effectLst/>
              <a:latin typeface="Source Sans Pro" panose="020B0503030403020204" pitchFamily="34" charset="0"/>
            </a:endParaRPr>
          </a:p>
          <a:p>
            <a:pPr marL="0" indent="0" algn="just">
              <a:buNone/>
            </a:pPr>
            <a:endParaRPr lang="es-CO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727239C1-989D-0BE1-9BA8-F5A90423A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85825"/>
          </a:xfrm>
        </p:spPr>
        <p:txBody>
          <a:bodyPr>
            <a:normAutofit/>
          </a:bodyPr>
          <a:lstStyle/>
          <a:p>
            <a:r>
              <a:rPr lang="es-CO" sz="4000" dirty="0"/>
              <a:t>JavaScript - Integración de código</a:t>
            </a:r>
          </a:p>
        </p:txBody>
      </p:sp>
      <p:sp>
        <p:nvSpPr>
          <p:cNvPr id="2" name="Flecha: a la derecha 1">
            <a:hlinkClick r:id="rId5" action="ppaction://hlinksldjump"/>
            <a:extLst>
              <a:ext uri="{FF2B5EF4-FFF2-40B4-BE49-F238E27FC236}">
                <a16:creationId xmlns:a16="http://schemas.microsoft.com/office/drawing/2014/main" id="{9AF7D84E-A1C7-39D5-909E-6EB873C000D3}"/>
              </a:ext>
            </a:extLst>
          </p:cNvPr>
          <p:cNvSpPr/>
          <p:nvPr/>
        </p:nvSpPr>
        <p:spPr>
          <a:xfrm>
            <a:off x="11649075" y="6372225"/>
            <a:ext cx="542925" cy="471487"/>
          </a:xfrm>
          <a:prstGeom prst="right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01189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10163E-91C3-AF0B-8FB1-59ECE0762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7963"/>
            <a:ext cx="10515600" cy="1325563"/>
          </a:xfrm>
        </p:spPr>
        <p:txBody>
          <a:bodyPr/>
          <a:lstStyle/>
          <a:p>
            <a:r>
              <a:rPr lang="es-CO" dirty="0"/>
              <a:t>Código JavaScript en el Head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797ABA-6306-D2EF-5BBB-09CC139B7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75163"/>
          </a:xfrm>
        </p:spPr>
        <p:txBody>
          <a:bodyPr>
            <a:normAutofit lnSpcReduction="10000"/>
          </a:bodyPr>
          <a:lstStyle/>
          <a:p>
            <a:r>
              <a:rPr lang="es-C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C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s-C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CO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CO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C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C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meta</a:t>
            </a:r>
            <a:r>
              <a:rPr lang="es-CO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CO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charset</a:t>
            </a:r>
            <a:r>
              <a:rPr lang="es-CO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CO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"UTF-8"</a:t>
            </a:r>
            <a:r>
              <a:rPr lang="es-C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CO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CO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C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C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meta</a:t>
            </a:r>
            <a:r>
              <a:rPr lang="es-CO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CO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s-CO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CO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CO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viewport</a:t>
            </a:r>
            <a:r>
              <a:rPr lang="es-CO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CO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CO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content</a:t>
            </a:r>
            <a:r>
              <a:rPr lang="es-CO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CO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CO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s-CO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CO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device-width</a:t>
            </a:r>
            <a:r>
              <a:rPr lang="es-CO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CO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initial-scale</a:t>
            </a:r>
            <a:r>
              <a:rPr lang="es-CO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=1.0"</a:t>
            </a:r>
            <a:r>
              <a:rPr lang="es-C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CO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CO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C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CO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s-C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CO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s-C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CO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s-C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CO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CO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C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C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s-C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CO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C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CO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s-C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CO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CO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SubMódulo</a:t>
            </a:r>
            <a:r>
              <a:rPr lang="es-CO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Programación para la Web"</a:t>
            </a:r>
            <a:r>
              <a:rPr lang="es-C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endParaRPr lang="es-CO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C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C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C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s-C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CO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C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C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s-C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CO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s-CO" dirty="0"/>
          </a:p>
        </p:txBody>
      </p:sp>
      <p:sp>
        <p:nvSpPr>
          <p:cNvPr id="4" name="Flecha: a la derecha 3">
            <a:hlinkClick r:id="rId2" action="ppaction://hlinksldjump"/>
            <a:extLst>
              <a:ext uri="{FF2B5EF4-FFF2-40B4-BE49-F238E27FC236}">
                <a16:creationId xmlns:a16="http://schemas.microsoft.com/office/drawing/2014/main" id="{ADEA031D-23D0-F590-ED9A-F3AB0B90CD21}"/>
              </a:ext>
            </a:extLst>
          </p:cNvPr>
          <p:cNvSpPr/>
          <p:nvPr/>
        </p:nvSpPr>
        <p:spPr>
          <a:xfrm>
            <a:off x="11515725" y="6300787"/>
            <a:ext cx="676275" cy="5572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89009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10163E-91C3-AF0B-8FB1-59ECE0762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85838"/>
          </a:xfrm>
        </p:spPr>
        <p:txBody>
          <a:bodyPr/>
          <a:lstStyle/>
          <a:p>
            <a:r>
              <a:rPr lang="es-CO" dirty="0"/>
              <a:t>Código JavaScript en el </a:t>
            </a:r>
            <a:r>
              <a:rPr lang="es-CO" dirty="0" err="1"/>
              <a:t>Body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797ABA-6306-D2EF-5BBB-09CC139B7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812" y="1285876"/>
            <a:ext cx="10620375" cy="5143499"/>
          </a:xfrm>
        </p:spPr>
        <p:txBody>
          <a:bodyPr>
            <a:noAutofit/>
          </a:bodyPr>
          <a:lstStyle/>
          <a:p>
            <a:r>
              <a:rPr lang="es-C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C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s-C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CO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CO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C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. . .</a:t>
            </a:r>
            <a:endParaRPr lang="es-CO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CO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C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CO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s-C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CO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s-C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CO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s-C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CO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C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C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s-C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CO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C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CO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s-C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CO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CO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C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C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s-C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CO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Bienvenidos a CESDE</a:t>
            </a:r>
            <a:r>
              <a:rPr lang="es-C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C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s-C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CO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CO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C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C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s-C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CO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C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CO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s-C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CO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CO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SubMódulo</a:t>
            </a:r>
            <a:r>
              <a:rPr lang="es-CO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Programación para la Web"</a:t>
            </a:r>
            <a:r>
              <a:rPr lang="es-C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endParaRPr lang="es-CO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C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C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C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s-C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CO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C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CO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s-C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CO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Flecha: a la derecha 3">
            <a:hlinkClick r:id="rId2" action="ppaction://hlinksldjump"/>
            <a:extLst>
              <a:ext uri="{FF2B5EF4-FFF2-40B4-BE49-F238E27FC236}">
                <a16:creationId xmlns:a16="http://schemas.microsoft.com/office/drawing/2014/main" id="{ADEA031D-23D0-F590-ED9A-F3AB0B90CD21}"/>
              </a:ext>
            </a:extLst>
          </p:cNvPr>
          <p:cNvSpPr/>
          <p:nvPr/>
        </p:nvSpPr>
        <p:spPr>
          <a:xfrm>
            <a:off x="11515725" y="6300787"/>
            <a:ext cx="676275" cy="5572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574702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10163E-91C3-AF0B-8FB1-59ECE0762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85838"/>
          </a:xfrm>
        </p:spPr>
        <p:txBody>
          <a:bodyPr/>
          <a:lstStyle/>
          <a:p>
            <a:r>
              <a:rPr lang="es-CO" dirty="0"/>
              <a:t>Código JavaScript en un archivo externo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797ABA-6306-D2EF-5BBB-09CC139B7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812" y="1285876"/>
            <a:ext cx="10620375" cy="5143499"/>
          </a:xfrm>
        </p:spPr>
        <p:txBody>
          <a:bodyPr>
            <a:noAutofit/>
          </a:bodyPr>
          <a:lstStyle/>
          <a:p>
            <a:r>
              <a:rPr lang="es-C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&lt;!</a:t>
            </a:r>
            <a:r>
              <a:rPr lang="es-C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DOCTYPE</a:t>
            </a:r>
            <a:r>
              <a:rPr lang="es-CO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CO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s-C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CO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C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CO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s-CO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CO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lang</a:t>
            </a:r>
            <a:r>
              <a:rPr lang="es-CO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CO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"es"</a:t>
            </a:r>
            <a:r>
              <a:rPr lang="es-C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CO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C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C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s-C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CO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CO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C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. . .</a:t>
            </a:r>
            <a:endParaRPr lang="es-CO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CO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C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C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s-C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CO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s-C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CO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"aplicacion.js"</a:t>
            </a:r>
            <a:r>
              <a:rPr lang="es-C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s-C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s-C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CO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C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C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s-C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CO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C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CO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s-C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CO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CO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C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C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s-C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CO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Bienvenidos a CESDE</a:t>
            </a:r>
            <a:r>
              <a:rPr lang="es-C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C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s-C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CO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C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CO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s-C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CO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C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CO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s-C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CO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Flecha: a la derecha 3">
            <a:hlinkClick r:id="rId2" action="ppaction://hlinksldjump"/>
            <a:extLst>
              <a:ext uri="{FF2B5EF4-FFF2-40B4-BE49-F238E27FC236}">
                <a16:creationId xmlns:a16="http://schemas.microsoft.com/office/drawing/2014/main" id="{ADEA031D-23D0-F590-ED9A-F3AB0B90CD21}"/>
              </a:ext>
            </a:extLst>
          </p:cNvPr>
          <p:cNvSpPr/>
          <p:nvPr/>
        </p:nvSpPr>
        <p:spPr>
          <a:xfrm>
            <a:off x="11515725" y="6300787"/>
            <a:ext cx="676275" cy="5572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14596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C573CF-A2F6-FE8D-B1FD-20BF225FB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80059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CO" sz="4000" dirty="0"/>
              <a:t>Son contenedores para almacenar datos. Se pueden identificar comenzando con </a:t>
            </a:r>
            <a:r>
              <a:rPr lang="es-CO" sz="4000" b="1" dirty="0"/>
              <a:t>letra</a:t>
            </a:r>
            <a:r>
              <a:rPr lang="es-CO" sz="4000" dirty="0"/>
              <a:t>, </a:t>
            </a:r>
            <a:r>
              <a:rPr lang="es-CO" sz="4000" b="1" dirty="0"/>
              <a:t>$</a:t>
            </a:r>
            <a:r>
              <a:rPr lang="es-CO" sz="4000" dirty="0"/>
              <a:t>, </a:t>
            </a:r>
            <a:r>
              <a:rPr lang="es-CO" sz="4000" b="1" dirty="0"/>
              <a:t>_</a:t>
            </a:r>
            <a:r>
              <a:rPr lang="es-CO" sz="4000" dirty="0"/>
              <a:t>.</a:t>
            </a:r>
          </a:p>
          <a:p>
            <a:pPr marL="0" indent="0" algn="just">
              <a:buNone/>
            </a:pPr>
            <a:r>
              <a:rPr lang="es-CO" sz="4000" dirty="0"/>
              <a:t>Se pueden declarar de cuatro maneras:</a:t>
            </a:r>
          </a:p>
          <a:p>
            <a:pPr marL="0" indent="0" algn="just">
              <a:buNone/>
            </a:pPr>
            <a:r>
              <a:rPr lang="es-CO" sz="4000" dirty="0"/>
              <a:t>Automáticamente: (x=10; </a:t>
            </a:r>
            <a:r>
              <a:rPr lang="es-CO" sz="4000" dirty="0" err="1"/>
              <a:t>nom</a:t>
            </a:r>
            <a:r>
              <a:rPr lang="es-CO" sz="4000" dirty="0"/>
              <a:t>=‘Juan’;  c=</a:t>
            </a:r>
            <a:r>
              <a:rPr lang="es-CO" sz="4000" dirty="0" err="1"/>
              <a:t>nom+x</a:t>
            </a:r>
            <a:r>
              <a:rPr lang="es-CO" sz="4000" dirty="0"/>
              <a:t>;)</a:t>
            </a:r>
          </a:p>
          <a:p>
            <a:pPr marL="0" indent="0" algn="just">
              <a:buNone/>
            </a:pPr>
            <a:r>
              <a:rPr lang="es-CO" sz="4000" dirty="0"/>
              <a:t>Usando </a:t>
            </a:r>
            <a:r>
              <a:rPr lang="es-CO" sz="4000" i="1" dirty="0" err="1">
                <a:solidFill>
                  <a:srgbClr val="FF0000"/>
                </a:solidFill>
              </a:rPr>
              <a:t>var</a:t>
            </a:r>
            <a:r>
              <a:rPr lang="es-CO" sz="4000" i="1" dirty="0">
                <a:solidFill>
                  <a:srgbClr val="FF0000"/>
                </a:solidFill>
              </a:rPr>
              <a:t> </a:t>
            </a:r>
            <a:r>
              <a:rPr lang="es-CO" sz="4000" dirty="0"/>
              <a:t>(</a:t>
            </a:r>
            <a:r>
              <a:rPr lang="es-CO" sz="4000" dirty="0" err="1"/>
              <a:t>var</a:t>
            </a:r>
            <a:r>
              <a:rPr lang="es-CO" sz="4000" dirty="0"/>
              <a:t> x=10; </a:t>
            </a:r>
            <a:r>
              <a:rPr lang="es-CO" sz="4000" dirty="0" err="1"/>
              <a:t>var</a:t>
            </a:r>
            <a:r>
              <a:rPr lang="es-CO" sz="4000" dirty="0"/>
              <a:t> </a:t>
            </a:r>
            <a:r>
              <a:rPr lang="es-CO" sz="4000" dirty="0" err="1"/>
              <a:t>nom</a:t>
            </a:r>
            <a:r>
              <a:rPr lang="es-CO" sz="4000" dirty="0"/>
              <a:t>=‘Juan’;)</a:t>
            </a:r>
            <a:endParaRPr lang="es-CO" sz="4000" i="1" dirty="0">
              <a:solidFill>
                <a:srgbClr val="FF0000"/>
              </a:solidFill>
            </a:endParaRPr>
          </a:p>
          <a:p>
            <a:pPr marL="0" indent="0" algn="just">
              <a:buNone/>
            </a:pPr>
            <a:r>
              <a:rPr lang="es-CO" sz="4000" dirty="0"/>
              <a:t>Usando </a:t>
            </a:r>
            <a:r>
              <a:rPr lang="es-CO" sz="4000" i="1" dirty="0" err="1">
                <a:solidFill>
                  <a:srgbClr val="FF0000"/>
                </a:solidFill>
              </a:rPr>
              <a:t>let</a:t>
            </a:r>
            <a:r>
              <a:rPr lang="es-CO" sz="4000" i="1" dirty="0">
                <a:solidFill>
                  <a:srgbClr val="FF0000"/>
                </a:solidFill>
              </a:rPr>
              <a:t> </a:t>
            </a:r>
            <a:r>
              <a:rPr lang="es-CO" sz="4000" dirty="0"/>
              <a:t>(</a:t>
            </a:r>
            <a:r>
              <a:rPr lang="es-CO" sz="4000" dirty="0" err="1"/>
              <a:t>let</a:t>
            </a:r>
            <a:r>
              <a:rPr lang="es-CO" sz="4000" dirty="0"/>
              <a:t> x=10; </a:t>
            </a:r>
            <a:r>
              <a:rPr lang="es-CO" sz="4000" dirty="0" err="1"/>
              <a:t>let</a:t>
            </a:r>
            <a:r>
              <a:rPr lang="es-CO" sz="4000" dirty="0"/>
              <a:t> </a:t>
            </a:r>
            <a:r>
              <a:rPr lang="es-CO" sz="4000" dirty="0" err="1"/>
              <a:t>nom</a:t>
            </a:r>
            <a:r>
              <a:rPr lang="es-CO" sz="4000" dirty="0"/>
              <a:t>=‘Juan’;)</a:t>
            </a:r>
            <a:endParaRPr lang="es-CO" sz="4000" i="1" dirty="0">
              <a:solidFill>
                <a:srgbClr val="FF0000"/>
              </a:solidFill>
            </a:endParaRPr>
          </a:p>
          <a:p>
            <a:pPr marL="0" indent="0" algn="just">
              <a:buNone/>
            </a:pPr>
            <a:r>
              <a:rPr lang="es-CO" sz="4000" dirty="0"/>
              <a:t>Usando </a:t>
            </a:r>
            <a:r>
              <a:rPr lang="es-CO" sz="4000" i="1" dirty="0" err="1">
                <a:solidFill>
                  <a:srgbClr val="FF0000"/>
                </a:solidFill>
              </a:rPr>
              <a:t>const</a:t>
            </a:r>
            <a:r>
              <a:rPr lang="es-CO" sz="4000" i="1" dirty="0">
                <a:solidFill>
                  <a:srgbClr val="FF0000"/>
                </a:solidFill>
              </a:rPr>
              <a:t> </a:t>
            </a:r>
            <a:r>
              <a:rPr lang="es-CO" sz="4000" dirty="0"/>
              <a:t>(</a:t>
            </a:r>
            <a:r>
              <a:rPr lang="es-CO" sz="4000" dirty="0" err="1"/>
              <a:t>const</a:t>
            </a:r>
            <a:r>
              <a:rPr lang="es-CO" sz="4000" dirty="0"/>
              <a:t> x=10; </a:t>
            </a:r>
            <a:r>
              <a:rPr lang="es-CO" sz="4000" dirty="0" err="1"/>
              <a:t>const</a:t>
            </a:r>
            <a:r>
              <a:rPr lang="es-CO" sz="4000" dirty="0"/>
              <a:t> </a:t>
            </a:r>
            <a:r>
              <a:rPr lang="es-CO" sz="4000" dirty="0" err="1"/>
              <a:t>nom</a:t>
            </a:r>
            <a:r>
              <a:rPr lang="es-CO" sz="4000" dirty="0"/>
              <a:t>=‘Juan’;)</a:t>
            </a:r>
            <a:endParaRPr lang="es-CO" sz="4000" i="1" dirty="0">
              <a:solidFill>
                <a:srgbClr val="FF0000"/>
              </a:solidFill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727239C1-989D-0BE1-9BA8-F5A90423A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0037"/>
            <a:ext cx="10515600" cy="885825"/>
          </a:xfrm>
        </p:spPr>
        <p:txBody>
          <a:bodyPr>
            <a:normAutofit/>
          </a:bodyPr>
          <a:lstStyle/>
          <a:p>
            <a:r>
              <a:rPr lang="es-CO" sz="4000" dirty="0"/>
              <a:t>JavaScript – Variables</a:t>
            </a:r>
          </a:p>
        </p:txBody>
      </p:sp>
    </p:spTree>
    <p:extLst>
      <p:ext uri="{BB962C8B-B14F-4D97-AF65-F5344CB8AC3E}">
        <p14:creationId xmlns:p14="http://schemas.microsoft.com/office/powerpoint/2010/main" val="3644544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C573CF-A2F6-FE8D-B1FD-20BF225FB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339" y="2014539"/>
            <a:ext cx="11515724" cy="4000499"/>
          </a:xfrm>
        </p:spPr>
        <p:txBody>
          <a:bodyPr>
            <a:noAutofit/>
          </a:bodyPr>
          <a:lstStyle/>
          <a:p>
            <a:pPr marL="540000" indent="-540000" algn="just">
              <a:buFont typeface="+mj-lt"/>
              <a:buAutoNum type="arabicPeriod"/>
            </a:pPr>
            <a:r>
              <a:rPr lang="es-MX" sz="4000" dirty="0"/>
              <a:t>Declarar siempre las variables</a:t>
            </a:r>
          </a:p>
          <a:p>
            <a:pPr marL="540000" indent="-540000" algn="just">
              <a:buFont typeface="+mj-lt"/>
              <a:buAutoNum type="arabicPeriod"/>
            </a:pPr>
            <a:r>
              <a:rPr lang="es-MX" sz="4000" dirty="0"/>
              <a:t>Utilice siempre </a:t>
            </a:r>
            <a:r>
              <a:rPr lang="es-MX" sz="4000" i="1" dirty="0">
                <a:solidFill>
                  <a:srgbClr val="FF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const</a:t>
            </a:r>
            <a:r>
              <a:rPr lang="es-MX" sz="4000" dirty="0"/>
              <a:t>, si el valor no se debe cambiar.</a:t>
            </a:r>
          </a:p>
          <a:p>
            <a:pPr marL="540000" indent="-540000" algn="just">
              <a:buFont typeface="+mj-lt"/>
              <a:buAutoNum type="arabicPeriod"/>
            </a:pPr>
            <a:r>
              <a:rPr lang="es-MX" sz="4000" dirty="0"/>
              <a:t>Use siempre </a:t>
            </a:r>
            <a:r>
              <a:rPr lang="es-MX" sz="4000" i="1" dirty="0">
                <a:solidFill>
                  <a:srgbClr val="FF0000"/>
                </a:solidFill>
              </a:rPr>
              <a:t>const</a:t>
            </a:r>
            <a:r>
              <a:rPr lang="es-MX" sz="4000" dirty="0"/>
              <a:t>, si el tipo no se debe cambiar (</a:t>
            </a:r>
            <a:r>
              <a:rPr lang="es-MX" sz="4000" dirty="0" err="1"/>
              <a:t>Arrays</a:t>
            </a:r>
            <a:r>
              <a:rPr lang="es-MX" sz="4000" dirty="0"/>
              <a:t> y Objetos).</a:t>
            </a:r>
          </a:p>
          <a:p>
            <a:pPr marL="540000" indent="-540000" algn="just">
              <a:buFont typeface="+mj-lt"/>
              <a:buAutoNum type="arabicPeriod"/>
            </a:pPr>
            <a:r>
              <a:rPr lang="es-MX" sz="4000" dirty="0"/>
              <a:t>Utilice solo </a:t>
            </a:r>
            <a:r>
              <a:rPr lang="es-MX" sz="4000" dirty="0">
                <a:solidFill>
                  <a:srgbClr val="FF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let</a:t>
            </a:r>
            <a:r>
              <a:rPr lang="es-MX" sz="4000" dirty="0"/>
              <a:t>, si no puede usar </a:t>
            </a:r>
            <a:r>
              <a:rPr lang="es-MX" sz="4000" dirty="0" err="1">
                <a:solidFill>
                  <a:srgbClr val="FF0000"/>
                </a:solidFill>
              </a:rPr>
              <a:t>const</a:t>
            </a:r>
            <a:r>
              <a:rPr lang="es-MX" sz="4000" dirty="0" err="1"/>
              <a:t>.</a:t>
            </a:r>
            <a:endParaRPr lang="es-MX" sz="4000" dirty="0"/>
          </a:p>
          <a:p>
            <a:pPr marL="540000" indent="-540000" algn="just">
              <a:buFont typeface="+mj-lt"/>
              <a:buAutoNum type="arabicPeriod"/>
            </a:pPr>
            <a:r>
              <a:rPr lang="es-MX" sz="4000" dirty="0"/>
              <a:t>Use solo </a:t>
            </a:r>
            <a:r>
              <a:rPr lang="es-MX" sz="4000" dirty="0" err="1">
                <a:solidFill>
                  <a:srgbClr val="FF0000"/>
                </a:solidFill>
              </a:rPr>
              <a:t>var</a:t>
            </a:r>
            <a:r>
              <a:rPr lang="es-MX" sz="4000" dirty="0"/>
              <a:t>, si DEBE admitir navegadores antiguos.</a:t>
            </a:r>
            <a:endParaRPr lang="es-CO" sz="400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727239C1-989D-0BE1-9BA8-F5A90423A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0037"/>
            <a:ext cx="10515600" cy="885825"/>
          </a:xfrm>
        </p:spPr>
        <p:txBody>
          <a:bodyPr>
            <a:normAutofit/>
          </a:bodyPr>
          <a:lstStyle/>
          <a:p>
            <a:r>
              <a:rPr lang="es-CO" sz="4000" dirty="0"/>
              <a:t>JavaScript – Cuándo usar </a:t>
            </a:r>
            <a:r>
              <a:rPr lang="es-CO" sz="4000" i="1" dirty="0" err="1"/>
              <a:t>var</a:t>
            </a:r>
            <a:r>
              <a:rPr lang="es-CO" sz="4000" dirty="0"/>
              <a:t>, </a:t>
            </a:r>
            <a:r>
              <a:rPr lang="es-CO" sz="4000" i="1" dirty="0" err="1"/>
              <a:t>let</a:t>
            </a:r>
            <a:r>
              <a:rPr lang="es-CO" sz="4000" dirty="0"/>
              <a:t> o </a:t>
            </a:r>
            <a:r>
              <a:rPr lang="es-CO" sz="4000" i="1" dirty="0" err="1"/>
              <a:t>const</a:t>
            </a:r>
            <a:endParaRPr lang="es-CO" sz="4000" i="1" dirty="0"/>
          </a:p>
        </p:txBody>
      </p:sp>
    </p:spTree>
    <p:extLst>
      <p:ext uri="{BB962C8B-B14F-4D97-AF65-F5344CB8AC3E}">
        <p14:creationId xmlns:p14="http://schemas.microsoft.com/office/powerpoint/2010/main" val="3799296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C573CF-A2F6-FE8D-B1FD-20BF225FB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1651"/>
            <a:ext cx="10515600" cy="462914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CO" sz="4000" b="1" dirty="0"/>
              <a:t>Numérico</a:t>
            </a:r>
            <a:r>
              <a:rPr lang="es-CO" sz="4000" dirty="0"/>
              <a:t>: enteros, decimales y de coma flotante.</a:t>
            </a:r>
          </a:p>
          <a:p>
            <a:pPr marL="0" indent="0" algn="just">
              <a:buNone/>
            </a:pPr>
            <a:r>
              <a:rPr lang="es-CO" sz="4000" b="1" dirty="0" err="1"/>
              <a:t>String</a:t>
            </a:r>
            <a:r>
              <a:rPr lang="es-CO" sz="4000" dirty="0"/>
              <a:t>: secuencia de caracteres, también llamado texto.</a:t>
            </a:r>
          </a:p>
          <a:p>
            <a:pPr marL="0" indent="0" algn="just">
              <a:buNone/>
            </a:pPr>
            <a:r>
              <a:rPr lang="es-CO" sz="4000" b="1" dirty="0" err="1"/>
              <a:t>Boolean</a:t>
            </a:r>
            <a:r>
              <a:rPr lang="es-CO" sz="4000" dirty="0"/>
              <a:t>: datos lógicos, true o false.</a:t>
            </a:r>
          </a:p>
          <a:p>
            <a:pPr marL="0" indent="0" algn="just">
              <a:buNone/>
            </a:pPr>
            <a:r>
              <a:rPr lang="es-CO" sz="4000" b="1" dirty="0" err="1"/>
              <a:t>Undefined</a:t>
            </a:r>
            <a:r>
              <a:rPr lang="es-CO" sz="4000" dirty="0"/>
              <a:t>: Tipos de datos no definidos.</a:t>
            </a:r>
          </a:p>
          <a:p>
            <a:pPr marL="0" indent="0" algn="just">
              <a:buNone/>
            </a:pPr>
            <a:r>
              <a:rPr lang="es-CO" sz="4000" b="1" dirty="0" err="1"/>
              <a:t>Null</a:t>
            </a:r>
            <a:r>
              <a:rPr lang="es-CO" sz="4000" dirty="0"/>
              <a:t>: Datos que no existen, llamados datos nulos.</a:t>
            </a:r>
          </a:p>
          <a:p>
            <a:pPr marL="0" indent="0" algn="r">
              <a:buNone/>
            </a:pPr>
            <a:r>
              <a:rPr lang="es-CO" sz="3200" b="1" dirty="0">
                <a:solidFill>
                  <a:srgbClr val="FF0000"/>
                </a:solidFill>
              </a:rPr>
              <a:t>Ejemplo: app.js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727239C1-989D-0BE1-9BA8-F5A90423A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0037"/>
            <a:ext cx="10515600" cy="885825"/>
          </a:xfrm>
        </p:spPr>
        <p:txBody>
          <a:bodyPr>
            <a:normAutofit/>
          </a:bodyPr>
          <a:lstStyle/>
          <a:p>
            <a:r>
              <a:rPr lang="es-CO" sz="4000" dirty="0"/>
              <a:t>JavaScript – Tipos de Datos</a:t>
            </a:r>
          </a:p>
        </p:txBody>
      </p:sp>
    </p:spTree>
    <p:extLst>
      <p:ext uri="{BB962C8B-B14F-4D97-AF65-F5344CB8AC3E}">
        <p14:creationId xmlns:p14="http://schemas.microsoft.com/office/powerpoint/2010/main" val="2963338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727239C1-989D-0BE1-9BA8-F5A90423A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35038"/>
          </a:xfrm>
        </p:spPr>
        <p:txBody>
          <a:bodyPr>
            <a:normAutofit/>
          </a:bodyPr>
          <a:lstStyle/>
          <a:p>
            <a:r>
              <a:rPr lang="es-CO" sz="4000" dirty="0"/>
              <a:t>JavaScript – Operadores</a:t>
            </a:r>
          </a:p>
        </p:txBody>
      </p:sp>
      <p:graphicFrame>
        <p:nvGraphicFramePr>
          <p:cNvPr id="5" name="Tabla 5">
            <a:extLst>
              <a:ext uri="{FF2B5EF4-FFF2-40B4-BE49-F238E27FC236}">
                <a16:creationId xmlns:a16="http://schemas.microsoft.com/office/drawing/2014/main" id="{AEFD95D8-E858-3137-DCFF-12FDBF68A3E1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347943061"/>
              </p:ext>
            </p:extLst>
          </p:nvPr>
        </p:nvGraphicFramePr>
        <p:xfrm>
          <a:off x="838200" y="1454147"/>
          <a:ext cx="4762500" cy="5029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7677">
                  <a:extLst>
                    <a:ext uri="{9D8B030D-6E8A-4147-A177-3AD203B41FA5}">
                      <a16:colId xmlns:a16="http://schemas.microsoft.com/office/drawing/2014/main" val="1267205962"/>
                    </a:ext>
                  </a:extLst>
                </a:gridCol>
                <a:gridCol w="3234823">
                  <a:extLst>
                    <a:ext uri="{9D8B030D-6E8A-4147-A177-3AD203B41FA5}">
                      <a16:colId xmlns:a16="http://schemas.microsoft.com/office/drawing/2014/main" val="3649605192"/>
                    </a:ext>
                  </a:extLst>
                </a:gridCol>
              </a:tblGrid>
              <a:tr h="709612">
                <a:tc gridSpan="2">
                  <a:txBody>
                    <a:bodyPr/>
                    <a:lstStyle/>
                    <a:p>
                      <a:pPr algn="ctr"/>
                      <a:r>
                        <a:rPr lang="es-CO" sz="3200" dirty="0"/>
                        <a:t>Aritméticos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/>
                      <a:endParaRPr lang="es-CO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5386114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s-CO" sz="280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2800" dirty="0"/>
                        <a:t>Suma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1040266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s-CO" sz="28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2800" dirty="0"/>
                        <a:t>Resta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959630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s-CO" sz="2800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2800" dirty="0"/>
                        <a:t>Multiplicación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151043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s-CO" sz="28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2800" dirty="0"/>
                        <a:t>División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3865247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s-CO" sz="2800" dirty="0"/>
                        <a:t>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2800" dirty="0"/>
                        <a:t>Potenciación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4991614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s-CO" sz="2800" dirty="0"/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2800" dirty="0"/>
                        <a:t>Residuo (Mod)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9964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s-CO" sz="2800" dirty="0"/>
                        <a:t>++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2800" dirty="0"/>
                        <a:t>Incremento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747246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s-CO" sz="2800" dirty="0"/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2800" dirty="0"/>
                        <a:t>Decremento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7300720"/>
                  </a:ext>
                </a:extLst>
              </a:tr>
            </a:tbl>
          </a:graphicData>
        </a:graphic>
      </p:graphicFrame>
      <p:graphicFrame>
        <p:nvGraphicFramePr>
          <p:cNvPr id="6" name="Tabla 6">
            <a:extLst>
              <a:ext uri="{FF2B5EF4-FFF2-40B4-BE49-F238E27FC236}">
                <a16:creationId xmlns:a16="http://schemas.microsoft.com/office/drawing/2014/main" id="{812A5EC8-6856-0479-53FA-64A3F5A5EC6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560498276"/>
              </p:ext>
            </p:extLst>
          </p:nvPr>
        </p:nvGraphicFramePr>
        <p:xfrm>
          <a:off x="5872163" y="1454147"/>
          <a:ext cx="5481637" cy="49825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6762">
                  <a:extLst>
                    <a:ext uri="{9D8B030D-6E8A-4147-A177-3AD203B41FA5}">
                      <a16:colId xmlns:a16="http://schemas.microsoft.com/office/drawing/2014/main" val="4225340922"/>
                    </a:ext>
                  </a:extLst>
                </a:gridCol>
                <a:gridCol w="3274875">
                  <a:extLst>
                    <a:ext uri="{9D8B030D-6E8A-4147-A177-3AD203B41FA5}">
                      <a16:colId xmlns:a16="http://schemas.microsoft.com/office/drawing/2014/main" val="1634432917"/>
                    </a:ext>
                  </a:extLst>
                </a:gridCol>
              </a:tblGrid>
              <a:tr h="662517">
                <a:tc gridSpan="2">
                  <a:txBody>
                    <a:bodyPr/>
                    <a:lstStyle/>
                    <a:p>
                      <a:pPr algn="ctr"/>
                      <a:r>
                        <a:rPr lang="es-CO" sz="3200" dirty="0"/>
                        <a:t>Relacionales o de Comparación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/>
                      <a:endParaRPr lang="es-CO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2223264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s-CO" sz="2800" dirty="0"/>
                        <a:t>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2800" dirty="0"/>
                        <a:t>Mayor que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237081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s-CO" sz="2800" dirty="0"/>
                        <a:t>&lt;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2800" dirty="0"/>
                        <a:t>Menor que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3212017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s-CO" sz="2800" dirty="0"/>
                        <a:t>&gt;=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2800" dirty="0"/>
                        <a:t>Mayor o Igual que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3839716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s-CO" sz="2800" dirty="0"/>
                        <a:t>&lt;=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2800" dirty="0"/>
                        <a:t>Menor o Igual que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521617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s-CO" sz="2800" dirty="0"/>
                        <a:t>==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2800" dirty="0"/>
                        <a:t>Igual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296989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s-CO" sz="2800" dirty="0"/>
                        <a:t>!=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2800" dirty="0"/>
                        <a:t>Diferente (No igual)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479697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s-CO" sz="2800" dirty="0"/>
                        <a:t>===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2800" dirty="0"/>
                        <a:t>Estrictamente igual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8914733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s-CO" sz="2800" dirty="0"/>
                        <a:t>!==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2800" dirty="0"/>
                        <a:t>Desigualdad estricta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57214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4523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727239C1-989D-0BE1-9BA8-F5A90423A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35038"/>
          </a:xfrm>
        </p:spPr>
        <p:txBody>
          <a:bodyPr>
            <a:normAutofit/>
          </a:bodyPr>
          <a:lstStyle/>
          <a:p>
            <a:r>
              <a:rPr lang="es-CO" sz="4000" dirty="0"/>
              <a:t>JavaScript – Operadores</a:t>
            </a:r>
          </a:p>
        </p:txBody>
      </p:sp>
      <p:graphicFrame>
        <p:nvGraphicFramePr>
          <p:cNvPr id="5" name="Tabla 5">
            <a:extLst>
              <a:ext uri="{FF2B5EF4-FFF2-40B4-BE49-F238E27FC236}">
                <a16:creationId xmlns:a16="http://schemas.microsoft.com/office/drawing/2014/main" id="{AEFD95D8-E858-3137-DCFF-12FDBF68A3E1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881727514"/>
              </p:ext>
            </p:extLst>
          </p:nvPr>
        </p:nvGraphicFramePr>
        <p:xfrm>
          <a:off x="594919" y="1454147"/>
          <a:ext cx="3800912" cy="4867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6064">
                  <a:extLst>
                    <a:ext uri="{9D8B030D-6E8A-4147-A177-3AD203B41FA5}">
                      <a16:colId xmlns:a16="http://schemas.microsoft.com/office/drawing/2014/main" val="1267205962"/>
                    </a:ext>
                  </a:extLst>
                </a:gridCol>
                <a:gridCol w="1323221">
                  <a:extLst>
                    <a:ext uri="{9D8B030D-6E8A-4147-A177-3AD203B41FA5}">
                      <a16:colId xmlns:a16="http://schemas.microsoft.com/office/drawing/2014/main" val="3649605192"/>
                    </a:ext>
                  </a:extLst>
                </a:gridCol>
                <a:gridCol w="1751627">
                  <a:extLst>
                    <a:ext uri="{9D8B030D-6E8A-4147-A177-3AD203B41FA5}">
                      <a16:colId xmlns:a16="http://schemas.microsoft.com/office/drawing/2014/main" val="1058314073"/>
                    </a:ext>
                  </a:extLst>
                </a:gridCol>
              </a:tblGrid>
              <a:tr h="709612">
                <a:tc gridSpan="3">
                  <a:txBody>
                    <a:bodyPr/>
                    <a:lstStyle/>
                    <a:p>
                      <a:pPr algn="ctr"/>
                      <a:r>
                        <a:rPr lang="es-CO" sz="3200" dirty="0"/>
                        <a:t>De Asignación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/>
                      <a:endParaRPr lang="es-CO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CO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5386114"/>
                  </a:ext>
                </a:extLst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lang="es-CO" sz="2800" dirty="0"/>
                        <a:t>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2800" dirty="0"/>
                        <a:t>x = 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800" dirty="0"/>
                        <a:t>x = 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5725912"/>
                  </a:ext>
                </a:extLst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lang="es-CO" sz="2800" dirty="0"/>
                        <a:t>+=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2800" dirty="0"/>
                        <a:t>x += 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2800" dirty="0"/>
                        <a:t>x = x + 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1040266"/>
                  </a:ext>
                </a:extLst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lang="es-CO" sz="2800" dirty="0"/>
                        <a:t>-=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2800" dirty="0"/>
                        <a:t>x -= 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2800" dirty="0"/>
                        <a:t>x = x – 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9596302"/>
                  </a:ext>
                </a:extLst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lang="es-CO" sz="2800" dirty="0"/>
                        <a:t>*=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2800" dirty="0"/>
                        <a:t>x *= 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2800" dirty="0"/>
                        <a:t>x = x * 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510435"/>
                  </a:ext>
                </a:extLst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lang="es-CO" sz="2800" dirty="0"/>
                        <a:t>/=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800" dirty="0"/>
                        <a:t>x /= 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2800" dirty="0"/>
                        <a:t>x = x / 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3865247"/>
                  </a:ext>
                </a:extLst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lang="es-CO" sz="2800" dirty="0"/>
                        <a:t>%=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800" dirty="0"/>
                        <a:t>x %= 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2800" dirty="0"/>
                        <a:t>x = x % 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99648"/>
                  </a:ext>
                </a:extLst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lang="es-CO" sz="2800" dirty="0"/>
                        <a:t>**=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800" dirty="0"/>
                        <a:t>x **= 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2800" dirty="0"/>
                        <a:t>x = x ** 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8282645"/>
                  </a:ext>
                </a:extLst>
              </a:tr>
            </a:tbl>
          </a:graphicData>
        </a:graphic>
      </p:graphicFrame>
      <p:graphicFrame>
        <p:nvGraphicFramePr>
          <p:cNvPr id="6" name="Tabla 6">
            <a:extLst>
              <a:ext uri="{FF2B5EF4-FFF2-40B4-BE49-F238E27FC236}">
                <a16:creationId xmlns:a16="http://schemas.microsoft.com/office/drawing/2014/main" id="{812A5EC8-6856-0479-53FA-64A3F5A5EC6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573346307"/>
              </p:ext>
            </p:extLst>
          </p:nvPr>
        </p:nvGraphicFramePr>
        <p:xfrm>
          <a:off x="4664280" y="1448610"/>
          <a:ext cx="6932801" cy="25654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4850">
                  <a:extLst>
                    <a:ext uri="{9D8B030D-6E8A-4147-A177-3AD203B41FA5}">
                      <a16:colId xmlns:a16="http://schemas.microsoft.com/office/drawing/2014/main" val="4225340922"/>
                    </a:ext>
                  </a:extLst>
                </a:gridCol>
                <a:gridCol w="5447951">
                  <a:extLst>
                    <a:ext uri="{9D8B030D-6E8A-4147-A177-3AD203B41FA5}">
                      <a16:colId xmlns:a16="http://schemas.microsoft.com/office/drawing/2014/main" val="1634432917"/>
                    </a:ext>
                  </a:extLst>
                </a:gridCol>
              </a:tblGrid>
              <a:tr h="662517">
                <a:tc gridSpan="2">
                  <a:txBody>
                    <a:bodyPr/>
                    <a:lstStyle/>
                    <a:p>
                      <a:pPr algn="ctr"/>
                      <a:r>
                        <a:rPr lang="es-CO" sz="3200" dirty="0"/>
                        <a:t>Lógicos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/>
                      <a:endParaRPr lang="es-CO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2223264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s-CO" sz="2400" dirty="0"/>
                        <a:t>AND (&amp;&amp;)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2400" dirty="0"/>
                        <a:t>Todos los operandos deben ser VERDADERO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237081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s-CO" sz="2400" dirty="0"/>
                        <a:t>OR (||)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2400" dirty="0"/>
                        <a:t>Por lo menos un operando es VERDADERO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3212017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s-CO" sz="2400" dirty="0"/>
                        <a:t>NOT (!)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2400" dirty="0"/>
                        <a:t>Negación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3839716"/>
                  </a:ext>
                </a:extLst>
              </a:tr>
            </a:tbl>
          </a:graphicData>
        </a:graphic>
      </p:graphicFrame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F2D017D6-79C9-4954-976B-95E1A2166BC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09075612"/>
              </p:ext>
            </p:extLst>
          </p:nvPr>
        </p:nvGraphicFramePr>
        <p:xfrm>
          <a:off x="4664280" y="4201242"/>
          <a:ext cx="6896447" cy="21205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96447">
                  <a:extLst>
                    <a:ext uri="{9D8B030D-6E8A-4147-A177-3AD203B41FA5}">
                      <a16:colId xmlns:a16="http://schemas.microsoft.com/office/drawing/2014/main" val="4225340922"/>
                    </a:ext>
                  </a:extLst>
                </a:gridCol>
              </a:tblGrid>
              <a:tr h="663644">
                <a:tc>
                  <a:txBody>
                    <a:bodyPr/>
                    <a:lstStyle/>
                    <a:p>
                      <a:pPr algn="ctr"/>
                      <a:r>
                        <a:rPr lang="es-CO" sz="3200" dirty="0"/>
                        <a:t>Ternario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2223264"/>
                  </a:ext>
                </a:extLst>
              </a:tr>
              <a:tr h="540918">
                <a:tc>
                  <a:txBody>
                    <a:bodyPr/>
                    <a:lstStyle/>
                    <a:p>
                      <a:pPr algn="just"/>
                      <a:r>
                        <a:rPr lang="es-CO" sz="2000" dirty="0"/>
                        <a:t>CONDICION ? RESULTADO_CIERTO : RESULTADO_FALSO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2370815"/>
                  </a:ext>
                </a:extLst>
              </a:tr>
              <a:tr h="915955">
                <a:tc>
                  <a:txBody>
                    <a:bodyPr/>
                    <a:lstStyle/>
                    <a:p>
                      <a:r>
                        <a:rPr lang="es-ES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let</a:t>
                      </a:r>
                      <a:r>
                        <a:rPr lang="es-E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edad = 22;</a:t>
                      </a:r>
                    </a:p>
                    <a:p>
                      <a:r>
                        <a:rPr lang="es-ES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let</a:t>
                      </a:r>
                      <a:r>
                        <a:rPr lang="es-E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puedeVotar</a:t>
                      </a:r>
                      <a:r>
                        <a:rPr lang="es-E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(edad&gt;=18) ? "Puede VOTAR" : "NO puede VOTAR";</a:t>
                      </a:r>
                    </a:p>
                    <a:p>
                      <a:r>
                        <a:rPr lang="es-ES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alert</a:t>
                      </a:r>
                      <a:r>
                        <a:rPr lang="es-E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es-ES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puedeVotar</a:t>
                      </a:r>
                      <a:r>
                        <a:rPr lang="es-E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3212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75093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C573CF-A2F6-FE8D-B1FD-20BF225FB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6319" y="1283517"/>
            <a:ext cx="11459361" cy="505017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CO" sz="24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s-CO" sz="2400" dirty="0" err="1">
                <a:solidFill>
                  <a:srgbClr val="569CD6"/>
                </a:solidFill>
                <a:latin typeface="Consolas" panose="020B0609020204030204" pitchFamily="49" charset="0"/>
              </a:rPr>
              <a:t>body</a:t>
            </a:r>
            <a:r>
              <a:rPr lang="es-CO" sz="24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s-CO" sz="24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CO" sz="24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s-CO" sz="24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s-CO" sz="2400" dirty="0">
                <a:solidFill>
                  <a:srgbClr val="569CD6"/>
                </a:solidFill>
                <a:latin typeface="Consolas" panose="020B0609020204030204" pitchFamily="49" charset="0"/>
              </a:rPr>
              <a:t>script</a:t>
            </a:r>
            <a:r>
              <a:rPr lang="es-CO" sz="24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s-CO" sz="24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CO" sz="24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s-CO" sz="2400" dirty="0" err="1">
                <a:solidFill>
                  <a:srgbClr val="569CD6"/>
                </a:solidFill>
                <a:latin typeface="Consolas" panose="020B0609020204030204" pitchFamily="49" charset="0"/>
              </a:rPr>
              <a:t>let</a:t>
            </a:r>
            <a:r>
              <a:rPr lang="es-CO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s-CO" sz="2400" dirty="0">
                <a:solidFill>
                  <a:srgbClr val="9CDCFE"/>
                </a:solidFill>
                <a:latin typeface="Consolas" panose="020B0609020204030204" pitchFamily="49" charset="0"/>
              </a:rPr>
              <a:t>nombre</a:t>
            </a:r>
            <a:r>
              <a:rPr lang="es-CO" sz="24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s-CO" sz="2400" dirty="0">
                <a:solidFill>
                  <a:srgbClr val="9CDCFE"/>
                </a:solidFill>
                <a:latin typeface="Consolas" panose="020B0609020204030204" pitchFamily="49" charset="0"/>
              </a:rPr>
              <a:t>edad</a:t>
            </a:r>
            <a:r>
              <a:rPr lang="es-CO" sz="24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s-CO" sz="2400" dirty="0">
                <a:solidFill>
                  <a:srgbClr val="9CDCFE"/>
                </a:solidFill>
                <a:latin typeface="Consolas" panose="020B0609020204030204" pitchFamily="49" charset="0"/>
              </a:rPr>
              <a:t>correo</a:t>
            </a:r>
            <a:r>
              <a:rPr lang="es-CO" sz="24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  <a:endParaRPr lang="es-CO" sz="24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CO" sz="24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s-CO" sz="2400" dirty="0">
                <a:solidFill>
                  <a:srgbClr val="9CDCFE"/>
                </a:solidFill>
                <a:latin typeface="Consolas" panose="020B0609020204030204" pitchFamily="49" charset="0"/>
              </a:rPr>
              <a:t>nombre</a:t>
            </a:r>
            <a:r>
              <a:rPr lang="es-CO" sz="24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s-CO" sz="2400" dirty="0" err="1">
                <a:solidFill>
                  <a:srgbClr val="DCDCAA"/>
                </a:solidFill>
                <a:latin typeface="Consolas" panose="020B0609020204030204" pitchFamily="49" charset="0"/>
              </a:rPr>
              <a:t>prompt</a:t>
            </a:r>
            <a:r>
              <a:rPr lang="es-CO" sz="24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s-CO" sz="2400" dirty="0">
                <a:solidFill>
                  <a:srgbClr val="CE9178"/>
                </a:solidFill>
                <a:latin typeface="Consolas" panose="020B0609020204030204" pitchFamily="49" charset="0"/>
              </a:rPr>
              <a:t>"Ingrese su nombre ..."</a:t>
            </a:r>
            <a:r>
              <a:rPr lang="es-CO" sz="24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  <a:endParaRPr lang="es-CO" sz="24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CO" sz="24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s-CO" sz="2400" dirty="0">
                <a:solidFill>
                  <a:srgbClr val="9CDCFE"/>
                </a:solidFill>
                <a:latin typeface="Consolas" panose="020B0609020204030204" pitchFamily="49" charset="0"/>
              </a:rPr>
              <a:t>edad</a:t>
            </a:r>
            <a:r>
              <a:rPr lang="es-CO" sz="24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s-CO" sz="2400" dirty="0" err="1">
                <a:solidFill>
                  <a:srgbClr val="DCDCAA"/>
                </a:solidFill>
                <a:latin typeface="Consolas" panose="020B0609020204030204" pitchFamily="49" charset="0"/>
              </a:rPr>
              <a:t>prompt</a:t>
            </a:r>
            <a:r>
              <a:rPr lang="es-CO" sz="24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s-CO" sz="2400" dirty="0">
                <a:solidFill>
                  <a:srgbClr val="CE9178"/>
                </a:solidFill>
                <a:latin typeface="Consolas" panose="020B0609020204030204" pitchFamily="49" charset="0"/>
              </a:rPr>
              <a:t>'Ingrese su edad'</a:t>
            </a:r>
            <a:r>
              <a:rPr lang="es-CO" sz="24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  <a:endParaRPr lang="es-CO" sz="24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CO" sz="24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s-CO" sz="2400" dirty="0">
                <a:solidFill>
                  <a:srgbClr val="9CDCFE"/>
                </a:solidFill>
                <a:latin typeface="Consolas" panose="020B0609020204030204" pitchFamily="49" charset="0"/>
              </a:rPr>
              <a:t>correo</a:t>
            </a:r>
            <a:r>
              <a:rPr lang="es-CO" sz="24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s-CO" sz="2400" dirty="0" err="1">
                <a:solidFill>
                  <a:srgbClr val="DCDCAA"/>
                </a:solidFill>
                <a:latin typeface="Consolas" panose="020B0609020204030204" pitchFamily="49" charset="0"/>
              </a:rPr>
              <a:t>prompt</a:t>
            </a:r>
            <a:r>
              <a:rPr lang="es-CO" sz="24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s-CO" sz="2400" dirty="0">
                <a:solidFill>
                  <a:srgbClr val="CE9178"/>
                </a:solidFill>
                <a:latin typeface="Consolas" panose="020B0609020204030204" pitchFamily="49" charset="0"/>
              </a:rPr>
              <a:t>"Escriba su usuario de correo"</a:t>
            </a:r>
            <a:r>
              <a:rPr lang="es-CO" sz="24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  <a:endParaRPr lang="es-CO" sz="24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CO" sz="24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s-CO" sz="2400" dirty="0" err="1">
                <a:solidFill>
                  <a:srgbClr val="9CDCFE"/>
                </a:solidFill>
                <a:latin typeface="Consolas" panose="020B0609020204030204" pitchFamily="49" charset="0"/>
              </a:rPr>
              <a:t>document</a:t>
            </a:r>
            <a:r>
              <a:rPr lang="es-CO" sz="2400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s-CO" sz="2400" dirty="0" err="1">
                <a:solidFill>
                  <a:srgbClr val="DCDCAA"/>
                </a:solidFill>
                <a:latin typeface="Consolas" panose="020B0609020204030204" pitchFamily="49" charset="0"/>
              </a:rPr>
              <a:t>write</a:t>
            </a:r>
            <a:r>
              <a:rPr lang="es-CO" sz="24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s-CO" sz="2400" dirty="0">
                <a:solidFill>
                  <a:srgbClr val="CE9178"/>
                </a:solidFill>
                <a:latin typeface="Consolas" panose="020B0609020204030204" pitchFamily="49" charset="0"/>
              </a:rPr>
              <a:t>'NOMBRE: '</a:t>
            </a:r>
            <a:r>
              <a:rPr lang="es-CO" sz="2400" dirty="0">
                <a:solidFill>
                  <a:srgbClr val="D4D4D4"/>
                </a:solidFill>
                <a:latin typeface="Consolas" panose="020B0609020204030204" pitchFamily="49" charset="0"/>
              </a:rPr>
              <a:t>+ </a:t>
            </a:r>
            <a:r>
              <a:rPr lang="es-CO" sz="2400" dirty="0">
                <a:solidFill>
                  <a:srgbClr val="9CDCFE"/>
                </a:solidFill>
                <a:latin typeface="Consolas" panose="020B0609020204030204" pitchFamily="49" charset="0"/>
              </a:rPr>
              <a:t>nombre</a:t>
            </a:r>
            <a:r>
              <a:rPr lang="es-CO" sz="2400" dirty="0">
                <a:solidFill>
                  <a:srgbClr val="D4D4D4"/>
                </a:solidFill>
                <a:latin typeface="Consolas" panose="020B0609020204030204" pitchFamily="49" charset="0"/>
              </a:rPr>
              <a:t>); </a:t>
            </a:r>
            <a:r>
              <a:rPr lang="es-CO" sz="2400" dirty="0" err="1">
                <a:solidFill>
                  <a:srgbClr val="9CDCFE"/>
                </a:solidFill>
                <a:latin typeface="Consolas" panose="020B0609020204030204" pitchFamily="49" charset="0"/>
              </a:rPr>
              <a:t>document</a:t>
            </a:r>
            <a:r>
              <a:rPr lang="es-CO" sz="2400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s-CO" sz="2400" dirty="0" err="1">
                <a:solidFill>
                  <a:srgbClr val="DCDCAA"/>
                </a:solidFill>
                <a:latin typeface="Consolas" panose="020B0609020204030204" pitchFamily="49" charset="0"/>
              </a:rPr>
              <a:t>write</a:t>
            </a:r>
            <a:r>
              <a:rPr lang="es-CO" sz="24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s-CO" sz="2400" dirty="0">
                <a:solidFill>
                  <a:srgbClr val="CE9178"/>
                </a:solidFill>
                <a:latin typeface="Consolas" panose="020B0609020204030204" pitchFamily="49" charset="0"/>
              </a:rPr>
              <a:t>'&lt;</a:t>
            </a:r>
            <a:r>
              <a:rPr lang="es-CO" sz="2400" dirty="0" err="1">
                <a:solidFill>
                  <a:srgbClr val="CE9178"/>
                </a:solidFill>
                <a:latin typeface="Consolas" panose="020B0609020204030204" pitchFamily="49" charset="0"/>
              </a:rPr>
              <a:t>br</a:t>
            </a:r>
            <a:r>
              <a:rPr lang="es-CO" sz="2400" dirty="0">
                <a:solidFill>
                  <a:srgbClr val="CE9178"/>
                </a:solidFill>
                <a:latin typeface="Consolas" panose="020B0609020204030204" pitchFamily="49" charset="0"/>
              </a:rPr>
              <a:t>&gt;'</a:t>
            </a:r>
            <a:r>
              <a:rPr lang="es-CO" sz="24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  <a:endParaRPr lang="es-CO" sz="24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CO" sz="24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s-CO" sz="2400" dirty="0" err="1">
                <a:solidFill>
                  <a:srgbClr val="9CDCFE"/>
                </a:solidFill>
                <a:latin typeface="Consolas" panose="020B0609020204030204" pitchFamily="49" charset="0"/>
              </a:rPr>
              <a:t>document</a:t>
            </a:r>
            <a:r>
              <a:rPr lang="es-CO" sz="2400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s-CO" sz="2400" dirty="0" err="1">
                <a:solidFill>
                  <a:srgbClr val="DCDCAA"/>
                </a:solidFill>
                <a:latin typeface="Consolas" panose="020B0609020204030204" pitchFamily="49" charset="0"/>
              </a:rPr>
              <a:t>write</a:t>
            </a:r>
            <a:r>
              <a:rPr lang="es-CO" sz="24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s-CO" sz="2400" dirty="0">
                <a:solidFill>
                  <a:srgbClr val="CE9178"/>
                </a:solidFill>
                <a:latin typeface="Consolas" panose="020B0609020204030204" pitchFamily="49" charset="0"/>
              </a:rPr>
              <a:t>'EDAD: '</a:t>
            </a:r>
            <a:r>
              <a:rPr lang="es-CO" sz="24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s-CO" sz="2400" dirty="0">
                <a:solidFill>
                  <a:srgbClr val="9CDCFE"/>
                </a:solidFill>
                <a:latin typeface="Consolas" panose="020B0609020204030204" pitchFamily="49" charset="0"/>
              </a:rPr>
              <a:t>edad</a:t>
            </a:r>
            <a:r>
              <a:rPr lang="es-CO" sz="24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s-CO" sz="2400" dirty="0">
                <a:solidFill>
                  <a:srgbClr val="CE9178"/>
                </a:solidFill>
                <a:latin typeface="Consolas" panose="020B0609020204030204" pitchFamily="49" charset="0"/>
              </a:rPr>
              <a:t>'años’</a:t>
            </a:r>
            <a:r>
              <a:rPr lang="es-CO" sz="2400" dirty="0">
                <a:solidFill>
                  <a:srgbClr val="D4D4D4"/>
                </a:solidFill>
                <a:latin typeface="Consolas" panose="020B0609020204030204" pitchFamily="49" charset="0"/>
              </a:rPr>
              <a:t>); </a:t>
            </a:r>
            <a:r>
              <a:rPr lang="es-CO" sz="2400" dirty="0" err="1">
                <a:solidFill>
                  <a:srgbClr val="9CDCFE"/>
                </a:solidFill>
                <a:latin typeface="Consolas" panose="020B0609020204030204" pitchFamily="49" charset="0"/>
              </a:rPr>
              <a:t>document</a:t>
            </a:r>
            <a:r>
              <a:rPr lang="es-CO" sz="2400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s-CO" sz="2400" dirty="0" err="1">
                <a:solidFill>
                  <a:srgbClr val="DCDCAA"/>
                </a:solidFill>
                <a:latin typeface="Consolas" panose="020B0609020204030204" pitchFamily="49" charset="0"/>
              </a:rPr>
              <a:t>write</a:t>
            </a:r>
            <a:r>
              <a:rPr lang="es-CO" sz="24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s-CO" sz="2400" dirty="0">
                <a:solidFill>
                  <a:srgbClr val="CE9178"/>
                </a:solidFill>
                <a:latin typeface="Consolas" panose="020B0609020204030204" pitchFamily="49" charset="0"/>
              </a:rPr>
              <a:t>'&lt;</a:t>
            </a:r>
            <a:r>
              <a:rPr lang="es-CO" sz="2400" dirty="0" err="1">
                <a:solidFill>
                  <a:srgbClr val="CE9178"/>
                </a:solidFill>
                <a:latin typeface="Consolas" panose="020B0609020204030204" pitchFamily="49" charset="0"/>
              </a:rPr>
              <a:t>br</a:t>
            </a:r>
            <a:r>
              <a:rPr lang="es-CO" sz="2400" dirty="0">
                <a:solidFill>
                  <a:srgbClr val="CE9178"/>
                </a:solidFill>
                <a:latin typeface="Consolas" panose="020B0609020204030204" pitchFamily="49" charset="0"/>
              </a:rPr>
              <a:t>&gt;'</a:t>
            </a:r>
            <a:r>
              <a:rPr lang="es-CO" sz="24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  <a:endParaRPr lang="es-CO" sz="24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CO" sz="24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s-CO" sz="2400" dirty="0" err="1">
                <a:solidFill>
                  <a:srgbClr val="9CDCFE"/>
                </a:solidFill>
                <a:latin typeface="Consolas" panose="020B0609020204030204" pitchFamily="49" charset="0"/>
              </a:rPr>
              <a:t>document</a:t>
            </a:r>
            <a:r>
              <a:rPr lang="es-CO" sz="2400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s-CO" sz="2400" dirty="0" err="1">
                <a:solidFill>
                  <a:srgbClr val="DCDCAA"/>
                </a:solidFill>
                <a:latin typeface="Consolas" panose="020B0609020204030204" pitchFamily="49" charset="0"/>
              </a:rPr>
              <a:t>write</a:t>
            </a:r>
            <a:r>
              <a:rPr lang="es-CO" sz="24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s-CO" sz="2400" dirty="0">
                <a:solidFill>
                  <a:srgbClr val="CE9178"/>
                </a:solidFill>
                <a:latin typeface="Consolas" panose="020B0609020204030204" pitchFamily="49" charset="0"/>
              </a:rPr>
              <a:t>'E-MAIL: '</a:t>
            </a:r>
            <a:r>
              <a:rPr lang="es-CO" sz="2400" dirty="0">
                <a:solidFill>
                  <a:srgbClr val="D4D4D4"/>
                </a:solidFill>
                <a:latin typeface="Consolas" panose="020B0609020204030204" pitchFamily="49" charset="0"/>
              </a:rPr>
              <a:t>+ </a:t>
            </a:r>
            <a:r>
              <a:rPr lang="es-CO" sz="2400" dirty="0">
                <a:solidFill>
                  <a:srgbClr val="9CDCFE"/>
                </a:solidFill>
                <a:latin typeface="Consolas" panose="020B0609020204030204" pitchFamily="49" charset="0"/>
              </a:rPr>
              <a:t>correo</a:t>
            </a:r>
            <a:r>
              <a:rPr lang="es-CO" sz="2400" dirty="0">
                <a:solidFill>
                  <a:srgbClr val="D4D4D4"/>
                </a:solidFill>
                <a:latin typeface="Consolas" panose="020B0609020204030204" pitchFamily="49" charset="0"/>
              </a:rPr>
              <a:t>); </a:t>
            </a:r>
            <a:endParaRPr lang="es-CO" sz="24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CO" sz="2400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s-CO" sz="24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s-CO" sz="2400" dirty="0">
                <a:solidFill>
                  <a:srgbClr val="569CD6"/>
                </a:solidFill>
                <a:latin typeface="Consolas" panose="020B0609020204030204" pitchFamily="49" charset="0"/>
              </a:rPr>
              <a:t>script</a:t>
            </a:r>
            <a:r>
              <a:rPr lang="es-CO" sz="24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s-CO" sz="24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CO" sz="24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s-CO" sz="2400" dirty="0" err="1">
                <a:solidFill>
                  <a:srgbClr val="569CD6"/>
                </a:solidFill>
                <a:latin typeface="Consolas" panose="020B0609020204030204" pitchFamily="49" charset="0"/>
              </a:rPr>
              <a:t>body</a:t>
            </a:r>
            <a:r>
              <a:rPr lang="es-CO" sz="24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s-CO" sz="24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0" indent="0" algn="just">
              <a:buNone/>
            </a:pPr>
            <a:endParaRPr lang="es-CO" sz="2400" b="1" dirty="0">
              <a:solidFill>
                <a:srgbClr val="FF0000"/>
              </a:solidFill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727239C1-989D-0BE1-9BA8-F5A90423A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7234"/>
            <a:ext cx="10515600" cy="885825"/>
          </a:xfrm>
        </p:spPr>
        <p:txBody>
          <a:bodyPr>
            <a:normAutofit/>
          </a:bodyPr>
          <a:lstStyle/>
          <a:p>
            <a:r>
              <a:rPr lang="es-CO" sz="4000" dirty="0"/>
              <a:t>JavaScript – Captura de Datos</a:t>
            </a:r>
          </a:p>
        </p:txBody>
      </p:sp>
    </p:spTree>
    <p:extLst>
      <p:ext uri="{BB962C8B-B14F-4D97-AF65-F5344CB8AC3E}">
        <p14:creationId xmlns:p14="http://schemas.microsoft.com/office/powerpoint/2010/main" val="23295333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C573CF-A2F6-FE8D-B1FD-20BF225FB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1512" y="1575034"/>
            <a:ext cx="10228976" cy="453215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ES" sz="3200" i="1" dirty="0" err="1"/>
              <a:t>if</a:t>
            </a:r>
            <a:r>
              <a:rPr lang="es-ES" sz="3200" i="1" dirty="0"/>
              <a:t> (condición) {</a:t>
            </a:r>
          </a:p>
          <a:p>
            <a:pPr marL="0" indent="0" algn="just">
              <a:buNone/>
            </a:pPr>
            <a:r>
              <a:rPr lang="es-ES" sz="3200" i="1" dirty="0"/>
              <a:t>sentencia1;</a:t>
            </a:r>
          </a:p>
          <a:p>
            <a:pPr marL="0" indent="0" algn="just">
              <a:buNone/>
            </a:pPr>
            <a:r>
              <a:rPr lang="es-ES" sz="3200" i="1" dirty="0"/>
              <a:t>sentencia2;</a:t>
            </a:r>
          </a:p>
          <a:p>
            <a:pPr marL="0" indent="0" algn="just">
              <a:buNone/>
            </a:pPr>
            <a:r>
              <a:rPr lang="es-ES" sz="3200" i="1" dirty="0"/>
              <a:t>...} [</a:t>
            </a:r>
            <a:r>
              <a:rPr lang="es-ES" sz="3200" i="1" dirty="0" err="1"/>
              <a:t>else</a:t>
            </a:r>
            <a:r>
              <a:rPr lang="es-ES" sz="3200" i="1" dirty="0"/>
              <a:t> {</a:t>
            </a:r>
          </a:p>
          <a:p>
            <a:pPr marL="0" indent="0" algn="just">
              <a:buNone/>
            </a:pPr>
            <a:r>
              <a:rPr lang="es-ES" sz="3200" i="1" dirty="0"/>
              <a:t>sentencia3;</a:t>
            </a:r>
          </a:p>
          <a:p>
            <a:pPr marL="0" indent="0" algn="just">
              <a:buNone/>
            </a:pPr>
            <a:r>
              <a:rPr lang="es-ES" sz="3200" i="1" dirty="0"/>
              <a:t>sentencia4;</a:t>
            </a:r>
          </a:p>
          <a:p>
            <a:pPr marL="0" indent="0" algn="just">
              <a:buNone/>
            </a:pPr>
            <a:r>
              <a:rPr lang="es-ES" sz="3200" i="1" dirty="0"/>
              <a:t>}]</a:t>
            </a:r>
          </a:p>
          <a:p>
            <a:pPr marL="0" indent="0" algn="just">
              <a:buNone/>
            </a:pPr>
            <a:r>
              <a:rPr lang="es-ES" sz="3200" i="1" dirty="0"/>
              <a:t>//¡Recuerde que todo lo que hay entre corchetes es opcional!</a:t>
            </a:r>
            <a:endParaRPr lang="es-CO" sz="3200" i="1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727239C1-989D-0BE1-9BA8-F5A90423A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0037"/>
            <a:ext cx="10515600" cy="885825"/>
          </a:xfrm>
        </p:spPr>
        <p:txBody>
          <a:bodyPr>
            <a:normAutofit/>
          </a:bodyPr>
          <a:lstStyle/>
          <a:p>
            <a:r>
              <a:rPr lang="es-CO" sz="4000" dirty="0"/>
              <a:t>JavaScript – Condicionales</a:t>
            </a:r>
          </a:p>
        </p:txBody>
      </p:sp>
    </p:spTree>
    <p:extLst>
      <p:ext uri="{BB962C8B-B14F-4D97-AF65-F5344CB8AC3E}">
        <p14:creationId xmlns:p14="http://schemas.microsoft.com/office/powerpoint/2010/main" val="41313023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C573CF-A2F6-FE8D-B1FD-20BF225FB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9501" y="1415643"/>
            <a:ext cx="8992998" cy="4775432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s-CO" sz="2400" dirty="0" err="1">
                <a:solidFill>
                  <a:srgbClr val="569CD6"/>
                </a:solidFill>
                <a:latin typeface="Consolas" panose="020B0609020204030204" pitchFamily="49" charset="0"/>
              </a:rPr>
              <a:t>let</a:t>
            </a:r>
            <a:r>
              <a:rPr lang="es-CO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s-CO" sz="2400" dirty="0">
                <a:solidFill>
                  <a:srgbClr val="9CDCFE"/>
                </a:solidFill>
                <a:latin typeface="Consolas" panose="020B0609020204030204" pitchFamily="49" charset="0"/>
              </a:rPr>
              <a:t>nombre</a:t>
            </a:r>
            <a:r>
              <a:rPr lang="es-CO" sz="24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s-CO" sz="2400" dirty="0">
                <a:solidFill>
                  <a:srgbClr val="9CDCFE"/>
                </a:solidFill>
                <a:latin typeface="Consolas" panose="020B0609020204030204" pitchFamily="49" charset="0"/>
              </a:rPr>
              <a:t>edad</a:t>
            </a:r>
            <a:r>
              <a:rPr lang="es-CO" sz="24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  <a:endParaRPr lang="es-CO" sz="24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s-CO" sz="2400" dirty="0">
                <a:solidFill>
                  <a:srgbClr val="9CDCFE"/>
                </a:solidFill>
                <a:latin typeface="Consolas" panose="020B0609020204030204" pitchFamily="49" charset="0"/>
              </a:rPr>
              <a:t>nombre</a:t>
            </a:r>
            <a:r>
              <a:rPr lang="es-CO" sz="24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s-CO" sz="2400" dirty="0" err="1">
                <a:solidFill>
                  <a:srgbClr val="DCDCAA"/>
                </a:solidFill>
                <a:latin typeface="Consolas" panose="020B0609020204030204" pitchFamily="49" charset="0"/>
              </a:rPr>
              <a:t>prompt</a:t>
            </a:r>
            <a:r>
              <a:rPr lang="es-CO" sz="24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s-CO" sz="2400" dirty="0">
                <a:solidFill>
                  <a:srgbClr val="CE9178"/>
                </a:solidFill>
                <a:latin typeface="Consolas" panose="020B0609020204030204" pitchFamily="49" charset="0"/>
              </a:rPr>
              <a:t>"Ingrese su nombre ..."</a:t>
            </a:r>
            <a:r>
              <a:rPr lang="es-CO" sz="24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  <a:endParaRPr lang="es-CO" sz="24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s-CO" sz="2400" dirty="0">
                <a:solidFill>
                  <a:srgbClr val="9CDCFE"/>
                </a:solidFill>
                <a:latin typeface="Consolas" panose="020B0609020204030204" pitchFamily="49" charset="0"/>
              </a:rPr>
              <a:t>edad</a:t>
            </a:r>
            <a:r>
              <a:rPr lang="es-CO" sz="24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s-CO" sz="2400" dirty="0" err="1">
                <a:solidFill>
                  <a:srgbClr val="DCDCAA"/>
                </a:solidFill>
                <a:latin typeface="Consolas" panose="020B0609020204030204" pitchFamily="49" charset="0"/>
              </a:rPr>
              <a:t>prompt</a:t>
            </a:r>
            <a:r>
              <a:rPr lang="es-CO" sz="24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s-CO" sz="2400" dirty="0">
                <a:solidFill>
                  <a:srgbClr val="CE9178"/>
                </a:solidFill>
                <a:latin typeface="Consolas" panose="020B0609020204030204" pitchFamily="49" charset="0"/>
              </a:rPr>
              <a:t>'Ingrese su edad'</a:t>
            </a:r>
            <a:r>
              <a:rPr lang="es-CO" sz="24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  <a:endParaRPr lang="es-CO" sz="24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br>
              <a:rPr lang="es-CO" sz="24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s-CO" sz="2400" dirty="0" err="1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s-CO" sz="2400" dirty="0">
                <a:solidFill>
                  <a:srgbClr val="D4D4D4"/>
                </a:solidFill>
                <a:latin typeface="Consolas" panose="020B0609020204030204" pitchFamily="49" charset="0"/>
              </a:rPr>
              <a:t> (</a:t>
            </a:r>
            <a:r>
              <a:rPr lang="es-CO" sz="2400" dirty="0">
                <a:solidFill>
                  <a:srgbClr val="9CDCFE"/>
                </a:solidFill>
                <a:latin typeface="Consolas" panose="020B0609020204030204" pitchFamily="49" charset="0"/>
              </a:rPr>
              <a:t>edad</a:t>
            </a:r>
            <a:r>
              <a:rPr lang="es-CO" sz="2400" dirty="0">
                <a:solidFill>
                  <a:srgbClr val="D4D4D4"/>
                </a:solidFill>
                <a:latin typeface="Consolas" panose="020B0609020204030204" pitchFamily="49" charset="0"/>
              </a:rPr>
              <a:t> &gt;= </a:t>
            </a:r>
            <a:r>
              <a:rPr lang="es-CO" sz="2400" dirty="0">
                <a:solidFill>
                  <a:srgbClr val="B5CEA8"/>
                </a:solidFill>
                <a:latin typeface="Consolas" panose="020B0609020204030204" pitchFamily="49" charset="0"/>
              </a:rPr>
              <a:t>18</a:t>
            </a:r>
            <a:r>
              <a:rPr lang="es-CO" sz="2400" dirty="0">
                <a:solidFill>
                  <a:srgbClr val="D4D4D4"/>
                </a:solidFill>
                <a:latin typeface="Consolas" panose="020B0609020204030204" pitchFamily="49" charset="0"/>
              </a:rPr>
              <a:t>) {</a:t>
            </a:r>
            <a:endParaRPr lang="es-CO" sz="24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s-CO" sz="2400" dirty="0">
                <a:solidFill>
                  <a:srgbClr val="D4D4D4"/>
                </a:solidFill>
                <a:latin typeface="Consolas" panose="020B0609020204030204" pitchFamily="49" charset="0"/>
              </a:rPr>
              <a:t>   </a:t>
            </a:r>
            <a:r>
              <a:rPr lang="es-CO" sz="2400" dirty="0" err="1">
                <a:solidFill>
                  <a:srgbClr val="9CDCFE"/>
                </a:solidFill>
                <a:latin typeface="Consolas" panose="020B0609020204030204" pitchFamily="49" charset="0"/>
              </a:rPr>
              <a:t>document</a:t>
            </a:r>
            <a:r>
              <a:rPr lang="es-CO" sz="2400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s-CO" sz="2400" dirty="0" err="1">
                <a:solidFill>
                  <a:srgbClr val="DCDCAA"/>
                </a:solidFill>
                <a:latin typeface="Consolas" panose="020B0609020204030204" pitchFamily="49" charset="0"/>
              </a:rPr>
              <a:t>write</a:t>
            </a:r>
            <a:r>
              <a:rPr lang="es-CO" sz="24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s-CO" sz="2400" dirty="0">
                <a:solidFill>
                  <a:srgbClr val="CE9178"/>
                </a:solidFill>
                <a:latin typeface="Consolas" panose="020B0609020204030204" pitchFamily="49" charset="0"/>
              </a:rPr>
              <a:t>'BIENVENIDO '</a:t>
            </a:r>
            <a:r>
              <a:rPr lang="es-CO" sz="24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s-CO" sz="2400" dirty="0">
                <a:solidFill>
                  <a:srgbClr val="9CDCFE"/>
                </a:solidFill>
                <a:latin typeface="Consolas" panose="020B0609020204030204" pitchFamily="49" charset="0"/>
              </a:rPr>
              <a:t>nombre</a:t>
            </a:r>
            <a:r>
              <a:rPr lang="es-CO" sz="2400" dirty="0">
                <a:solidFill>
                  <a:srgbClr val="D4D4D4"/>
                </a:solidFill>
                <a:latin typeface="Consolas" panose="020B0609020204030204" pitchFamily="49" charset="0"/>
              </a:rPr>
              <a:t>); </a:t>
            </a:r>
            <a:endParaRPr lang="es-CO" sz="24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s-CO" sz="2400" dirty="0">
                <a:solidFill>
                  <a:srgbClr val="D4D4D4"/>
                </a:solidFill>
                <a:latin typeface="Consolas" panose="020B0609020204030204" pitchFamily="49" charset="0"/>
              </a:rPr>
              <a:t>} </a:t>
            </a:r>
            <a:r>
              <a:rPr lang="es-CO" sz="2400" dirty="0" err="1">
                <a:solidFill>
                  <a:srgbClr val="C586C0"/>
                </a:solidFill>
                <a:latin typeface="Consolas" panose="020B0609020204030204" pitchFamily="49" charset="0"/>
              </a:rPr>
              <a:t>else</a:t>
            </a:r>
            <a:r>
              <a:rPr lang="es-CO" sz="2400" dirty="0">
                <a:solidFill>
                  <a:srgbClr val="D4D4D4"/>
                </a:solidFill>
                <a:latin typeface="Consolas" panose="020B0609020204030204" pitchFamily="49" charset="0"/>
              </a:rPr>
              <a:t> {</a:t>
            </a:r>
            <a:endParaRPr lang="es-CO" sz="24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s-CO" sz="24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s-CO" sz="2400" dirty="0" err="1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s-CO" sz="2400" dirty="0">
                <a:solidFill>
                  <a:srgbClr val="D4D4D4"/>
                </a:solidFill>
                <a:latin typeface="Consolas" panose="020B0609020204030204" pitchFamily="49" charset="0"/>
              </a:rPr>
              <a:t> (</a:t>
            </a:r>
            <a:r>
              <a:rPr lang="es-CO" sz="2400" dirty="0">
                <a:solidFill>
                  <a:srgbClr val="9CDCFE"/>
                </a:solidFill>
                <a:latin typeface="Consolas" panose="020B0609020204030204" pitchFamily="49" charset="0"/>
              </a:rPr>
              <a:t>edad</a:t>
            </a:r>
            <a:r>
              <a:rPr lang="es-CO" sz="2400" dirty="0">
                <a:solidFill>
                  <a:srgbClr val="D4D4D4"/>
                </a:solidFill>
                <a:latin typeface="Consolas" panose="020B0609020204030204" pitchFamily="49" charset="0"/>
              </a:rPr>
              <a:t> &lt; </a:t>
            </a:r>
            <a:r>
              <a:rPr lang="es-CO" sz="2400" dirty="0">
                <a:solidFill>
                  <a:srgbClr val="B5CEA8"/>
                </a:solidFill>
                <a:latin typeface="Consolas" panose="020B0609020204030204" pitchFamily="49" charset="0"/>
              </a:rPr>
              <a:t>18</a:t>
            </a:r>
            <a:r>
              <a:rPr lang="es-CO" sz="2400" dirty="0">
                <a:solidFill>
                  <a:srgbClr val="D4D4D4"/>
                </a:solidFill>
                <a:latin typeface="Consolas" panose="020B0609020204030204" pitchFamily="49" charset="0"/>
              </a:rPr>
              <a:t>) {</a:t>
            </a:r>
            <a:endParaRPr lang="es-CO" sz="24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s-CO" sz="24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s-CO" sz="2400" dirty="0" err="1">
                <a:solidFill>
                  <a:srgbClr val="9CDCFE"/>
                </a:solidFill>
                <a:latin typeface="Consolas" panose="020B0609020204030204" pitchFamily="49" charset="0"/>
              </a:rPr>
              <a:t>document</a:t>
            </a:r>
            <a:r>
              <a:rPr lang="es-CO" sz="2400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s-CO" sz="2400" dirty="0" err="1">
                <a:solidFill>
                  <a:srgbClr val="DCDCAA"/>
                </a:solidFill>
                <a:latin typeface="Consolas" panose="020B0609020204030204" pitchFamily="49" charset="0"/>
              </a:rPr>
              <a:t>write</a:t>
            </a:r>
            <a:r>
              <a:rPr lang="es-CO" sz="24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s-CO" sz="2400" dirty="0">
                <a:solidFill>
                  <a:srgbClr val="9CDCFE"/>
                </a:solidFill>
                <a:latin typeface="Consolas" panose="020B0609020204030204" pitchFamily="49" charset="0"/>
              </a:rPr>
              <a:t>nombre</a:t>
            </a:r>
            <a:r>
              <a:rPr lang="es-CO" sz="24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s-CO" sz="2400" dirty="0">
                <a:solidFill>
                  <a:srgbClr val="CE9178"/>
                </a:solidFill>
                <a:latin typeface="Consolas" panose="020B0609020204030204" pitchFamily="49" charset="0"/>
              </a:rPr>
              <a:t>' es menor de edad'</a:t>
            </a:r>
            <a:r>
              <a:rPr lang="es-CO" sz="24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  <a:endParaRPr lang="es-CO" sz="24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s-CO" sz="2400" dirty="0">
                <a:solidFill>
                  <a:srgbClr val="D4D4D4"/>
                </a:solidFill>
                <a:latin typeface="Consolas" panose="020B0609020204030204" pitchFamily="49" charset="0"/>
              </a:rPr>
              <a:t>    }</a:t>
            </a:r>
            <a:endParaRPr lang="es-CO" sz="24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s-CO" sz="24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s-CO" sz="2400" dirty="0" err="1">
                <a:solidFill>
                  <a:srgbClr val="C586C0"/>
                </a:solidFill>
                <a:latin typeface="Consolas" panose="020B0609020204030204" pitchFamily="49" charset="0"/>
              </a:rPr>
              <a:t>else</a:t>
            </a:r>
            <a:r>
              <a:rPr lang="es-CO" sz="2400" dirty="0">
                <a:solidFill>
                  <a:srgbClr val="D4D4D4"/>
                </a:solidFill>
                <a:latin typeface="Consolas" panose="020B0609020204030204" pitchFamily="49" charset="0"/>
              </a:rPr>
              <a:t> {</a:t>
            </a:r>
            <a:endParaRPr lang="es-CO" sz="24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s-CO" sz="24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s-CO" sz="2400" dirty="0" err="1">
                <a:solidFill>
                  <a:srgbClr val="9CDCFE"/>
                </a:solidFill>
                <a:latin typeface="Consolas" panose="020B0609020204030204" pitchFamily="49" charset="0"/>
              </a:rPr>
              <a:t>document</a:t>
            </a:r>
            <a:r>
              <a:rPr lang="es-CO" sz="2400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s-CO" sz="2400" dirty="0" err="1">
                <a:solidFill>
                  <a:srgbClr val="DCDCAA"/>
                </a:solidFill>
                <a:latin typeface="Consolas" panose="020B0609020204030204" pitchFamily="49" charset="0"/>
              </a:rPr>
              <a:t>write</a:t>
            </a:r>
            <a:r>
              <a:rPr lang="es-CO" sz="24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s-CO" sz="2400" dirty="0">
                <a:solidFill>
                  <a:srgbClr val="CE9178"/>
                </a:solidFill>
                <a:latin typeface="Consolas" panose="020B0609020204030204" pitchFamily="49" charset="0"/>
              </a:rPr>
              <a:t>'NO HA INGRESADO DATOS'</a:t>
            </a:r>
            <a:r>
              <a:rPr lang="es-CO" sz="24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  <a:endParaRPr lang="es-CO" sz="24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s-CO" sz="2400" dirty="0">
                <a:solidFill>
                  <a:srgbClr val="D4D4D4"/>
                </a:solidFill>
                <a:latin typeface="Consolas" panose="020B0609020204030204" pitchFamily="49" charset="0"/>
              </a:rPr>
              <a:t>    }</a:t>
            </a:r>
            <a:endParaRPr lang="es-CO" sz="24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s-CO" sz="2400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  <a:endParaRPr lang="es-CO" sz="24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0" indent="0" algn="just">
              <a:spcBef>
                <a:spcPts val="0"/>
              </a:spcBef>
              <a:buNone/>
            </a:pPr>
            <a:endParaRPr lang="es-CO" sz="2400" i="1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727239C1-989D-0BE1-9BA8-F5A90423A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0037"/>
            <a:ext cx="10515600" cy="885825"/>
          </a:xfrm>
        </p:spPr>
        <p:txBody>
          <a:bodyPr>
            <a:normAutofit/>
          </a:bodyPr>
          <a:lstStyle/>
          <a:p>
            <a:r>
              <a:rPr lang="es-CO" sz="4000" dirty="0"/>
              <a:t>JavaScript – Condicionales (Ejemplo)</a:t>
            </a:r>
          </a:p>
        </p:txBody>
      </p:sp>
    </p:spTree>
    <p:extLst>
      <p:ext uri="{BB962C8B-B14F-4D97-AF65-F5344CB8AC3E}">
        <p14:creationId xmlns:p14="http://schemas.microsoft.com/office/powerpoint/2010/main" val="4656853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C573CF-A2F6-FE8D-B1FD-20BF225FB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1512" y="1409352"/>
            <a:ext cx="10228976" cy="4471332"/>
          </a:xfrm>
        </p:spPr>
        <p:txBody>
          <a:bodyPr>
            <a:noAutofit/>
          </a:bodyPr>
          <a:lstStyle/>
          <a:p>
            <a:pPr marL="0" indent="0" algn="just">
              <a:spcBef>
                <a:spcPts val="0"/>
              </a:spcBef>
              <a:buNone/>
            </a:pPr>
            <a:r>
              <a:rPr lang="es-ES" sz="2400" i="1" dirty="0" err="1"/>
              <a:t>switch</a:t>
            </a:r>
            <a:r>
              <a:rPr lang="es-ES" sz="2400" i="1" dirty="0"/>
              <a:t> (expresión) {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s-ES" sz="2400" i="1" dirty="0"/>
              <a:t>  case valor1: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s-ES" sz="2400" i="1" dirty="0"/>
              <a:t>    Conjunto de instrucciones o sentencias a ejecutarse;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s-ES" sz="2400" i="1" dirty="0"/>
              <a:t>    [break;]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s-ES" sz="2400" i="1" dirty="0"/>
              <a:t>...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s-ES" sz="2400" i="1" dirty="0"/>
              <a:t>  case </a:t>
            </a:r>
            <a:r>
              <a:rPr lang="es-ES" sz="2400" i="1" dirty="0" err="1"/>
              <a:t>valorN</a:t>
            </a:r>
            <a:r>
              <a:rPr lang="es-ES" sz="2400" i="1" dirty="0"/>
              <a:t>: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s-ES" sz="2400" i="1" dirty="0"/>
              <a:t>    Conjunto de instrucciones o sentencias a ejecutarse;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s-ES" sz="2400" i="1" dirty="0"/>
              <a:t>    [break;]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s-ES" sz="2400" i="1" dirty="0"/>
              <a:t>  default: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s-ES" sz="2400" i="1" dirty="0"/>
              <a:t>    Instrucciones que se ejecutan si ningún valor coincide;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s-ES" sz="2400" i="1" dirty="0"/>
              <a:t>    [break;]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s-ES" sz="2400" i="1" dirty="0"/>
              <a:t>}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s-ES" sz="2400" i="1" dirty="0"/>
              <a:t>//¡Recuerde que todo lo que hay entre corchetes es opcional!</a:t>
            </a:r>
            <a:endParaRPr lang="es-CO" sz="2400" i="1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727239C1-989D-0BE1-9BA8-F5A90423A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534"/>
            <a:ext cx="10515600" cy="885825"/>
          </a:xfrm>
        </p:spPr>
        <p:txBody>
          <a:bodyPr>
            <a:normAutofit/>
          </a:bodyPr>
          <a:lstStyle/>
          <a:p>
            <a:r>
              <a:rPr lang="es-CO" sz="4000" dirty="0"/>
              <a:t>JavaScript – Sentencia </a:t>
            </a:r>
            <a:r>
              <a:rPr lang="es-CO" sz="4000" dirty="0" err="1"/>
              <a:t>Switch</a:t>
            </a:r>
            <a:endParaRPr lang="es-CO" sz="4000" dirty="0"/>
          </a:p>
        </p:txBody>
      </p:sp>
    </p:spTree>
    <p:extLst>
      <p:ext uri="{BB962C8B-B14F-4D97-AF65-F5344CB8AC3E}">
        <p14:creationId xmlns:p14="http://schemas.microsoft.com/office/powerpoint/2010/main" val="26334328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C573CF-A2F6-FE8D-B1FD-20BF225FB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0965" y="1602299"/>
            <a:ext cx="10310070" cy="4798501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s-CO" sz="2000" dirty="0" err="1">
                <a:solidFill>
                  <a:srgbClr val="569CD6"/>
                </a:solidFill>
                <a:latin typeface="Consolas" panose="020B0609020204030204" pitchFamily="49" charset="0"/>
              </a:rPr>
              <a:t>let</a:t>
            </a:r>
            <a:r>
              <a:rPr lang="es-CO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s-CO" sz="2000" dirty="0" err="1">
                <a:solidFill>
                  <a:srgbClr val="9CDCFE"/>
                </a:solidFill>
                <a:latin typeface="Consolas" panose="020B0609020204030204" pitchFamily="49" charset="0"/>
              </a:rPr>
              <a:t>dia</a:t>
            </a:r>
            <a:r>
              <a:rPr lang="es-CO" sz="20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  <a:endParaRPr lang="es-CO" sz="2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s-CO" sz="2000" dirty="0" err="1">
                <a:solidFill>
                  <a:srgbClr val="9CDCFE"/>
                </a:solidFill>
                <a:latin typeface="Consolas" panose="020B0609020204030204" pitchFamily="49" charset="0"/>
              </a:rPr>
              <a:t>dia</a:t>
            </a:r>
            <a:r>
              <a:rPr lang="es-CO" sz="20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s-CO" sz="2000" dirty="0" err="1">
                <a:solidFill>
                  <a:srgbClr val="DCDCAA"/>
                </a:solidFill>
                <a:latin typeface="Consolas" panose="020B0609020204030204" pitchFamily="49" charset="0"/>
              </a:rPr>
              <a:t>parseInt</a:t>
            </a:r>
            <a:r>
              <a:rPr lang="es-CO" sz="20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s-CO" sz="2000" dirty="0" err="1">
                <a:solidFill>
                  <a:srgbClr val="DCDCAA"/>
                </a:solidFill>
                <a:latin typeface="Consolas" panose="020B0609020204030204" pitchFamily="49" charset="0"/>
              </a:rPr>
              <a:t>prompt</a:t>
            </a:r>
            <a:r>
              <a:rPr lang="es-CO" sz="20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s-CO" sz="2000" dirty="0">
                <a:solidFill>
                  <a:srgbClr val="CE9178"/>
                </a:solidFill>
                <a:latin typeface="Consolas" panose="020B0609020204030204" pitchFamily="49" charset="0"/>
              </a:rPr>
              <a:t>"Ingrese un número entre 1 y 5 ..."</a:t>
            </a:r>
            <a:r>
              <a:rPr lang="es-CO" sz="2000" dirty="0">
                <a:solidFill>
                  <a:srgbClr val="D4D4D4"/>
                </a:solidFill>
                <a:latin typeface="Consolas" panose="020B0609020204030204" pitchFamily="49" charset="0"/>
              </a:rPr>
              <a:t>));</a:t>
            </a:r>
            <a:endParaRPr lang="es-CO" sz="2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br>
              <a:rPr lang="es-CO" sz="20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s-CO" sz="2000" dirty="0" err="1">
                <a:solidFill>
                  <a:srgbClr val="C586C0"/>
                </a:solidFill>
                <a:latin typeface="Consolas" panose="020B0609020204030204" pitchFamily="49" charset="0"/>
              </a:rPr>
              <a:t>switch</a:t>
            </a:r>
            <a:r>
              <a:rPr lang="es-CO" sz="2000" dirty="0">
                <a:solidFill>
                  <a:srgbClr val="D4D4D4"/>
                </a:solidFill>
                <a:latin typeface="Consolas" panose="020B0609020204030204" pitchFamily="49" charset="0"/>
              </a:rPr>
              <a:t> (</a:t>
            </a:r>
            <a:r>
              <a:rPr lang="es-CO" sz="2000" dirty="0" err="1">
                <a:solidFill>
                  <a:srgbClr val="9CDCFE"/>
                </a:solidFill>
                <a:latin typeface="Consolas" panose="020B0609020204030204" pitchFamily="49" charset="0"/>
              </a:rPr>
              <a:t>dia</a:t>
            </a:r>
            <a:r>
              <a:rPr lang="es-CO" sz="2000" dirty="0">
                <a:solidFill>
                  <a:srgbClr val="D4D4D4"/>
                </a:solidFill>
                <a:latin typeface="Consolas" panose="020B0609020204030204" pitchFamily="49" charset="0"/>
              </a:rPr>
              <a:t>) {</a:t>
            </a:r>
            <a:endParaRPr lang="es-CO" sz="2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s-CO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</a:t>
            </a:r>
            <a:r>
              <a:rPr lang="es-CO" sz="2000" dirty="0">
                <a:solidFill>
                  <a:srgbClr val="C586C0"/>
                </a:solidFill>
                <a:latin typeface="Consolas" panose="020B0609020204030204" pitchFamily="49" charset="0"/>
              </a:rPr>
              <a:t>case</a:t>
            </a:r>
            <a:r>
              <a:rPr lang="es-CO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s-CO" sz="20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s-CO" sz="2000" dirty="0">
                <a:solidFill>
                  <a:srgbClr val="D4D4D4"/>
                </a:solidFill>
                <a:latin typeface="Consolas" panose="020B0609020204030204" pitchFamily="49" charset="0"/>
              </a:rPr>
              <a:t>:</a:t>
            </a:r>
            <a:endParaRPr lang="es-CO" sz="2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s-CO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 </a:t>
            </a:r>
            <a:r>
              <a:rPr lang="es-CO" sz="2000" dirty="0" err="1">
                <a:solidFill>
                  <a:srgbClr val="9CDCFE"/>
                </a:solidFill>
                <a:latin typeface="Consolas" panose="020B0609020204030204" pitchFamily="49" charset="0"/>
              </a:rPr>
              <a:t>document</a:t>
            </a:r>
            <a:r>
              <a:rPr lang="es-CO" sz="2000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s-CO" sz="2000" dirty="0" err="1">
                <a:solidFill>
                  <a:srgbClr val="DCDCAA"/>
                </a:solidFill>
                <a:latin typeface="Consolas" panose="020B0609020204030204" pitchFamily="49" charset="0"/>
              </a:rPr>
              <a:t>write</a:t>
            </a:r>
            <a:r>
              <a:rPr lang="es-CO" sz="20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s-CO" sz="2000" dirty="0">
                <a:solidFill>
                  <a:srgbClr val="CE9178"/>
                </a:solidFill>
                <a:latin typeface="Consolas" panose="020B0609020204030204" pitchFamily="49" charset="0"/>
              </a:rPr>
              <a:t>'LUNES'</a:t>
            </a:r>
            <a:r>
              <a:rPr lang="es-CO" sz="2000" dirty="0">
                <a:solidFill>
                  <a:srgbClr val="D4D4D4"/>
                </a:solidFill>
                <a:latin typeface="Consolas" panose="020B0609020204030204" pitchFamily="49" charset="0"/>
              </a:rPr>
              <a:t>); </a:t>
            </a:r>
            <a:r>
              <a:rPr lang="es-CO" sz="2000" dirty="0">
                <a:solidFill>
                  <a:srgbClr val="C586C0"/>
                </a:solidFill>
                <a:latin typeface="Consolas" panose="020B0609020204030204" pitchFamily="49" charset="0"/>
              </a:rPr>
              <a:t>break</a:t>
            </a:r>
            <a:r>
              <a:rPr lang="es-CO" sz="2000" dirty="0">
                <a:solidFill>
                  <a:srgbClr val="D4D4D4"/>
                </a:solidFill>
                <a:latin typeface="Consolas" panose="020B0609020204030204" pitchFamily="49" charset="0"/>
              </a:rPr>
              <a:t>; </a:t>
            </a:r>
            <a:endParaRPr lang="es-CO" sz="2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s-CO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</a:t>
            </a:r>
            <a:r>
              <a:rPr lang="es-CO" sz="2000" dirty="0">
                <a:solidFill>
                  <a:srgbClr val="C586C0"/>
                </a:solidFill>
                <a:latin typeface="Consolas" panose="020B0609020204030204" pitchFamily="49" charset="0"/>
              </a:rPr>
              <a:t>case</a:t>
            </a:r>
            <a:r>
              <a:rPr lang="es-CO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s-CO" sz="200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s-CO" sz="2000" dirty="0">
                <a:solidFill>
                  <a:srgbClr val="D4D4D4"/>
                </a:solidFill>
                <a:latin typeface="Consolas" panose="020B0609020204030204" pitchFamily="49" charset="0"/>
              </a:rPr>
              <a:t>:</a:t>
            </a:r>
            <a:endParaRPr lang="es-CO" sz="2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s-CO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 </a:t>
            </a:r>
            <a:r>
              <a:rPr lang="es-CO" sz="2000" dirty="0" err="1">
                <a:solidFill>
                  <a:srgbClr val="9CDCFE"/>
                </a:solidFill>
                <a:latin typeface="Consolas" panose="020B0609020204030204" pitchFamily="49" charset="0"/>
              </a:rPr>
              <a:t>document</a:t>
            </a:r>
            <a:r>
              <a:rPr lang="es-CO" sz="2000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s-CO" sz="2000" dirty="0" err="1">
                <a:solidFill>
                  <a:srgbClr val="DCDCAA"/>
                </a:solidFill>
                <a:latin typeface="Consolas" panose="020B0609020204030204" pitchFamily="49" charset="0"/>
              </a:rPr>
              <a:t>write</a:t>
            </a:r>
            <a:r>
              <a:rPr lang="es-CO" sz="20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s-CO" sz="2000" dirty="0">
                <a:solidFill>
                  <a:srgbClr val="CE9178"/>
                </a:solidFill>
                <a:latin typeface="Consolas" panose="020B0609020204030204" pitchFamily="49" charset="0"/>
              </a:rPr>
              <a:t>'MARTES'</a:t>
            </a:r>
            <a:r>
              <a:rPr lang="es-CO" sz="2000" dirty="0">
                <a:solidFill>
                  <a:srgbClr val="D4D4D4"/>
                </a:solidFill>
                <a:latin typeface="Consolas" panose="020B0609020204030204" pitchFamily="49" charset="0"/>
              </a:rPr>
              <a:t>); </a:t>
            </a:r>
            <a:r>
              <a:rPr lang="es-CO" sz="2000" dirty="0">
                <a:solidFill>
                  <a:srgbClr val="C586C0"/>
                </a:solidFill>
                <a:latin typeface="Consolas" panose="020B0609020204030204" pitchFamily="49" charset="0"/>
              </a:rPr>
              <a:t>break</a:t>
            </a:r>
            <a:r>
              <a:rPr lang="es-CO" sz="20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  <a:endParaRPr lang="es-CO" sz="2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s-CO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</a:t>
            </a:r>
            <a:r>
              <a:rPr lang="es-CO" sz="2000" dirty="0">
                <a:solidFill>
                  <a:srgbClr val="C586C0"/>
                </a:solidFill>
                <a:latin typeface="Consolas" panose="020B0609020204030204" pitchFamily="49" charset="0"/>
              </a:rPr>
              <a:t>case</a:t>
            </a:r>
            <a:r>
              <a:rPr lang="es-CO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s-CO" sz="2000" dirty="0">
                <a:solidFill>
                  <a:srgbClr val="B5CEA8"/>
                </a:solidFill>
                <a:latin typeface="Consolas" panose="020B0609020204030204" pitchFamily="49" charset="0"/>
              </a:rPr>
              <a:t>3</a:t>
            </a:r>
            <a:r>
              <a:rPr lang="es-CO" sz="2000" dirty="0">
                <a:solidFill>
                  <a:srgbClr val="D4D4D4"/>
                </a:solidFill>
                <a:latin typeface="Consolas" panose="020B0609020204030204" pitchFamily="49" charset="0"/>
              </a:rPr>
              <a:t>:</a:t>
            </a:r>
            <a:endParaRPr lang="es-CO" sz="2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s-CO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 </a:t>
            </a:r>
            <a:r>
              <a:rPr lang="es-CO" sz="2000" dirty="0" err="1">
                <a:solidFill>
                  <a:srgbClr val="9CDCFE"/>
                </a:solidFill>
                <a:latin typeface="Consolas" panose="020B0609020204030204" pitchFamily="49" charset="0"/>
              </a:rPr>
              <a:t>document</a:t>
            </a:r>
            <a:r>
              <a:rPr lang="es-CO" sz="2000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s-CO" sz="2000" dirty="0" err="1">
                <a:solidFill>
                  <a:srgbClr val="DCDCAA"/>
                </a:solidFill>
                <a:latin typeface="Consolas" panose="020B0609020204030204" pitchFamily="49" charset="0"/>
              </a:rPr>
              <a:t>write</a:t>
            </a:r>
            <a:r>
              <a:rPr lang="es-CO" sz="20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s-CO" sz="2000" dirty="0">
                <a:solidFill>
                  <a:srgbClr val="CE9178"/>
                </a:solidFill>
                <a:latin typeface="Consolas" panose="020B0609020204030204" pitchFamily="49" charset="0"/>
              </a:rPr>
              <a:t>'MIÉRCOLES'</a:t>
            </a:r>
            <a:r>
              <a:rPr lang="es-CO" sz="2000" dirty="0">
                <a:solidFill>
                  <a:srgbClr val="D4D4D4"/>
                </a:solidFill>
                <a:latin typeface="Consolas" panose="020B0609020204030204" pitchFamily="49" charset="0"/>
              </a:rPr>
              <a:t>); </a:t>
            </a:r>
            <a:r>
              <a:rPr lang="es-CO" sz="2000" dirty="0">
                <a:solidFill>
                  <a:srgbClr val="C586C0"/>
                </a:solidFill>
                <a:latin typeface="Consolas" panose="020B0609020204030204" pitchFamily="49" charset="0"/>
              </a:rPr>
              <a:t>break</a:t>
            </a:r>
            <a:r>
              <a:rPr lang="es-CO" sz="20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  <a:endParaRPr lang="es-CO" sz="2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s-CO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</a:t>
            </a:r>
            <a:r>
              <a:rPr lang="es-CO" sz="2000" dirty="0">
                <a:solidFill>
                  <a:srgbClr val="C586C0"/>
                </a:solidFill>
                <a:latin typeface="Consolas" panose="020B0609020204030204" pitchFamily="49" charset="0"/>
              </a:rPr>
              <a:t>case</a:t>
            </a:r>
            <a:r>
              <a:rPr lang="es-CO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s-CO" sz="2000" dirty="0">
                <a:solidFill>
                  <a:srgbClr val="B5CEA8"/>
                </a:solidFill>
                <a:latin typeface="Consolas" panose="020B0609020204030204" pitchFamily="49" charset="0"/>
              </a:rPr>
              <a:t>4</a:t>
            </a:r>
            <a:r>
              <a:rPr lang="es-CO" sz="2000" dirty="0">
                <a:solidFill>
                  <a:srgbClr val="D4D4D4"/>
                </a:solidFill>
                <a:latin typeface="Consolas" panose="020B0609020204030204" pitchFamily="49" charset="0"/>
              </a:rPr>
              <a:t>:</a:t>
            </a:r>
            <a:endParaRPr lang="es-CO" sz="2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s-CO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 </a:t>
            </a:r>
            <a:r>
              <a:rPr lang="es-CO" sz="2000" dirty="0" err="1">
                <a:solidFill>
                  <a:srgbClr val="9CDCFE"/>
                </a:solidFill>
                <a:latin typeface="Consolas" panose="020B0609020204030204" pitchFamily="49" charset="0"/>
              </a:rPr>
              <a:t>document</a:t>
            </a:r>
            <a:r>
              <a:rPr lang="es-CO" sz="2000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s-CO" sz="2000" dirty="0" err="1">
                <a:solidFill>
                  <a:srgbClr val="DCDCAA"/>
                </a:solidFill>
                <a:latin typeface="Consolas" panose="020B0609020204030204" pitchFamily="49" charset="0"/>
              </a:rPr>
              <a:t>write</a:t>
            </a:r>
            <a:r>
              <a:rPr lang="es-CO" sz="20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s-CO" sz="2000" dirty="0">
                <a:solidFill>
                  <a:srgbClr val="CE9178"/>
                </a:solidFill>
                <a:latin typeface="Consolas" panose="020B0609020204030204" pitchFamily="49" charset="0"/>
              </a:rPr>
              <a:t>'JUEVES'</a:t>
            </a:r>
            <a:r>
              <a:rPr lang="es-CO" sz="2000" dirty="0">
                <a:solidFill>
                  <a:srgbClr val="D4D4D4"/>
                </a:solidFill>
                <a:latin typeface="Consolas" panose="020B0609020204030204" pitchFamily="49" charset="0"/>
              </a:rPr>
              <a:t>); </a:t>
            </a:r>
            <a:r>
              <a:rPr lang="es-CO" sz="2000" dirty="0">
                <a:solidFill>
                  <a:srgbClr val="C586C0"/>
                </a:solidFill>
                <a:latin typeface="Consolas" panose="020B0609020204030204" pitchFamily="49" charset="0"/>
              </a:rPr>
              <a:t>break</a:t>
            </a:r>
            <a:r>
              <a:rPr lang="es-CO" sz="20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  <a:endParaRPr lang="es-CO" sz="2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s-CO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</a:t>
            </a:r>
            <a:r>
              <a:rPr lang="es-CO" sz="2000" dirty="0">
                <a:solidFill>
                  <a:srgbClr val="C586C0"/>
                </a:solidFill>
                <a:latin typeface="Consolas" panose="020B0609020204030204" pitchFamily="49" charset="0"/>
              </a:rPr>
              <a:t>case</a:t>
            </a:r>
            <a:r>
              <a:rPr lang="es-CO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s-CO" sz="2000" dirty="0">
                <a:solidFill>
                  <a:srgbClr val="B5CEA8"/>
                </a:solidFill>
                <a:latin typeface="Consolas" panose="020B0609020204030204" pitchFamily="49" charset="0"/>
              </a:rPr>
              <a:t>5</a:t>
            </a:r>
            <a:r>
              <a:rPr lang="es-CO" sz="2000" dirty="0">
                <a:solidFill>
                  <a:srgbClr val="D4D4D4"/>
                </a:solidFill>
                <a:latin typeface="Consolas" panose="020B0609020204030204" pitchFamily="49" charset="0"/>
              </a:rPr>
              <a:t>:</a:t>
            </a:r>
            <a:endParaRPr lang="es-CO" sz="2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s-CO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 </a:t>
            </a:r>
            <a:r>
              <a:rPr lang="es-CO" sz="2000" dirty="0" err="1">
                <a:solidFill>
                  <a:srgbClr val="9CDCFE"/>
                </a:solidFill>
                <a:latin typeface="Consolas" panose="020B0609020204030204" pitchFamily="49" charset="0"/>
              </a:rPr>
              <a:t>document</a:t>
            </a:r>
            <a:r>
              <a:rPr lang="es-CO" sz="2000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s-CO" sz="2000" dirty="0" err="1">
                <a:solidFill>
                  <a:srgbClr val="DCDCAA"/>
                </a:solidFill>
                <a:latin typeface="Consolas" panose="020B0609020204030204" pitchFamily="49" charset="0"/>
              </a:rPr>
              <a:t>write</a:t>
            </a:r>
            <a:r>
              <a:rPr lang="es-CO" sz="20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s-CO" sz="2000" dirty="0">
                <a:solidFill>
                  <a:srgbClr val="CE9178"/>
                </a:solidFill>
                <a:latin typeface="Consolas" panose="020B0609020204030204" pitchFamily="49" charset="0"/>
              </a:rPr>
              <a:t>'VIERNES'</a:t>
            </a:r>
            <a:r>
              <a:rPr lang="es-CO" sz="2000" dirty="0">
                <a:solidFill>
                  <a:srgbClr val="D4D4D4"/>
                </a:solidFill>
                <a:latin typeface="Consolas" panose="020B0609020204030204" pitchFamily="49" charset="0"/>
              </a:rPr>
              <a:t>); </a:t>
            </a:r>
            <a:r>
              <a:rPr lang="es-CO" sz="2000" dirty="0">
                <a:solidFill>
                  <a:srgbClr val="C586C0"/>
                </a:solidFill>
                <a:latin typeface="Consolas" panose="020B0609020204030204" pitchFamily="49" charset="0"/>
              </a:rPr>
              <a:t>break</a:t>
            </a:r>
            <a:r>
              <a:rPr lang="es-CO" sz="20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  <a:endParaRPr lang="es-CO" sz="2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s-CO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</a:t>
            </a:r>
            <a:r>
              <a:rPr lang="es-CO" sz="2000" dirty="0">
                <a:solidFill>
                  <a:srgbClr val="C586C0"/>
                </a:solidFill>
                <a:latin typeface="Consolas" panose="020B0609020204030204" pitchFamily="49" charset="0"/>
              </a:rPr>
              <a:t>default</a:t>
            </a:r>
            <a:r>
              <a:rPr lang="es-CO" sz="2000" dirty="0">
                <a:solidFill>
                  <a:srgbClr val="D4D4D4"/>
                </a:solidFill>
                <a:latin typeface="Consolas" panose="020B0609020204030204" pitchFamily="49" charset="0"/>
              </a:rPr>
              <a:t>:</a:t>
            </a:r>
            <a:endParaRPr lang="es-CO" sz="2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s-CO" sz="2000" dirty="0">
                <a:solidFill>
                  <a:srgbClr val="D4D4D4"/>
                </a:solidFill>
                <a:latin typeface="Consolas" panose="020B0609020204030204" pitchFamily="49" charset="0"/>
              </a:rPr>
              <a:t>     </a:t>
            </a:r>
            <a:r>
              <a:rPr lang="es-CO" sz="2000" dirty="0" err="1">
                <a:solidFill>
                  <a:srgbClr val="9CDCFE"/>
                </a:solidFill>
                <a:latin typeface="Consolas" panose="020B0609020204030204" pitchFamily="49" charset="0"/>
              </a:rPr>
              <a:t>document</a:t>
            </a:r>
            <a:r>
              <a:rPr lang="es-CO" sz="2000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s-CO" sz="2000" dirty="0" err="1">
                <a:solidFill>
                  <a:srgbClr val="DCDCAA"/>
                </a:solidFill>
                <a:latin typeface="Consolas" panose="020B0609020204030204" pitchFamily="49" charset="0"/>
              </a:rPr>
              <a:t>write</a:t>
            </a:r>
            <a:r>
              <a:rPr lang="es-CO" sz="20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s-CO" sz="2000" dirty="0">
                <a:solidFill>
                  <a:srgbClr val="CE9178"/>
                </a:solidFill>
                <a:latin typeface="Consolas" panose="020B0609020204030204" pitchFamily="49" charset="0"/>
              </a:rPr>
              <a:t>'NO ES UN NÚMERO VÁLIDO'</a:t>
            </a:r>
            <a:r>
              <a:rPr lang="es-CO" sz="2000" dirty="0">
                <a:solidFill>
                  <a:srgbClr val="D4D4D4"/>
                </a:solidFill>
                <a:latin typeface="Consolas" panose="020B0609020204030204" pitchFamily="49" charset="0"/>
              </a:rPr>
              <a:t>); </a:t>
            </a:r>
            <a:r>
              <a:rPr lang="es-CO" sz="2000" dirty="0">
                <a:solidFill>
                  <a:srgbClr val="C586C0"/>
                </a:solidFill>
                <a:latin typeface="Consolas" panose="020B0609020204030204" pitchFamily="49" charset="0"/>
              </a:rPr>
              <a:t>break</a:t>
            </a:r>
            <a:r>
              <a:rPr lang="es-CO" sz="20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  <a:endParaRPr lang="es-CO" sz="2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s-CO" sz="2000" dirty="0">
                <a:solidFill>
                  <a:srgbClr val="D4D4D4"/>
                </a:solidFill>
                <a:latin typeface="Consolas" panose="020B0609020204030204" pitchFamily="49" charset="0"/>
              </a:rPr>
              <a:t> }</a:t>
            </a:r>
            <a:endParaRPr lang="es-CO" sz="2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0" indent="0" algn="just">
              <a:spcBef>
                <a:spcPts val="0"/>
              </a:spcBef>
              <a:buNone/>
            </a:pPr>
            <a:endParaRPr lang="es-CO" sz="2000" i="1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727239C1-989D-0BE1-9BA8-F5A90423A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534"/>
            <a:ext cx="10515600" cy="885825"/>
          </a:xfrm>
        </p:spPr>
        <p:txBody>
          <a:bodyPr>
            <a:normAutofit/>
          </a:bodyPr>
          <a:lstStyle/>
          <a:p>
            <a:r>
              <a:rPr lang="es-CO" sz="4000" dirty="0"/>
              <a:t>JavaScript – Sentencia </a:t>
            </a:r>
            <a:r>
              <a:rPr lang="es-CO" sz="4000" dirty="0" err="1"/>
              <a:t>Switch</a:t>
            </a:r>
            <a:r>
              <a:rPr lang="es-CO" sz="4000" dirty="0"/>
              <a:t> (Ejemplo)</a:t>
            </a:r>
          </a:p>
        </p:txBody>
      </p:sp>
    </p:spTree>
    <p:extLst>
      <p:ext uri="{BB962C8B-B14F-4D97-AF65-F5344CB8AC3E}">
        <p14:creationId xmlns:p14="http://schemas.microsoft.com/office/powerpoint/2010/main" val="41365773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C573CF-A2F6-FE8D-B1FD-20BF225FB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7064" y="1482165"/>
            <a:ext cx="7717871" cy="1132512"/>
          </a:xfrm>
        </p:spPr>
        <p:txBody>
          <a:bodyPr>
            <a:noAutofit/>
          </a:bodyPr>
          <a:lstStyle/>
          <a:p>
            <a:pPr marL="0" indent="0" algn="just">
              <a:spcBef>
                <a:spcPts val="0"/>
              </a:spcBef>
              <a:buNone/>
            </a:pPr>
            <a:r>
              <a:rPr lang="es-ES" sz="2400" i="1" dirty="0" err="1">
                <a:highlight>
                  <a:srgbClr val="00FFFF"/>
                </a:highlight>
              </a:rPr>
              <a:t>for</a:t>
            </a:r>
            <a:r>
              <a:rPr lang="es-ES" sz="2400" i="1" dirty="0">
                <a:highlight>
                  <a:srgbClr val="00FFFF"/>
                </a:highlight>
              </a:rPr>
              <a:t> ([</a:t>
            </a:r>
            <a:r>
              <a:rPr lang="es-ES" sz="2400" i="1" dirty="0" err="1">
                <a:highlight>
                  <a:srgbClr val="00FFFF"/>
                </a:highlight>
              </a:rPr>
              <a:t>expresion</a:t>
            </a:r>
            <a:r>
              <a:rPr lang="es-ES" sz="2400" i="1" dirty="0">
                <a:highlight>
                  <a:srgbClr val="00FFFF"/>
                </a:highlight>
              </a:rPr>
              <a:t>-inicial]; [</a:t>
            </a:r>
            <a:r>
              <a:rPr lang="es-ES" sz="2400" i="1" dirty="0" err="1">
                <a:highlight>
                  <a:srgbClr val="00FFFF"/>
                </a:highlight>
              </a:rPr>
              <a:t>condicion</a:t>
            </a:r>
            <a:r>
              <a:rPr lang="es-ES" sz="2400" i="1" dirty="0">
                <a:highlight>
                  <a:srgbClr val="00FFFF"/>
                </a:highlight>
              </a:rPr>
              <a:t>]; [</a:t>
            </a:r>
            <a:r>
              <a:rPr lang="es-ES" sz="2400" i="1" dirty="0" err="1">
                <a:highlight>
                  <a:srgbClr val="00FFFF"/>
                </a:highlight>
              </a:rPr>
              <a:t>expresion</a:t>
            </a:r>
            <a:r>
              <a:rPr lang="es-ES" sz="2400" i="1" dirty="0">
                <a:highlight>
                  <a:srgbClr val="00FFFF"/>
                </a:highlight>
              </a:rPr>
              <a:t>-final]) 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s-ES" sz="2400" i="1" dirty="0">
                <a:highlight>
                  <a:srgbClr val="00FFFF"/>
                </a:highlight>
              </a:rPr>
              <a:t>sentencia-o-bloque-de-sentencias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s-ES" sz="2400" i="1" dirty="0">
                <a:highlight>
                  <a:srgbClr val="00FFFF"/>
                </a:highlight>
              </a:rPr>
              <a:t>//¡Recuerde que todo lo que hay entre corchetes es opcional!</a:t>
            </a:r>
          </a:p>
          <a:p>
            <a:pPr marL="0" indent="0" algn="just">
              <a:spcBef>
                <a:spcPts val="0"/>
              </a:spcBef>
              <a:buNone/>
            </a:pPr>
            <a:endParaRPr lang="es-ES" sz="2400" i="1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727239C1-989D-0BE1-9BA8-F5A90423A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534"/>
            <a:ext cx="10515600" cy="885825"/>
          </a:xfrm>
        </p:spPr>
        <p:txBody>
          <a:bodyPr>
            <a:normAutofit/>
          </a:bodyPr>
          <a:lstStyle/>
          <a:p>
            <a:r>
              <a:rPr lang="es-CO" sz="4000" dirty="0"/>
              <a:t>JavaScript – Bucles </a:t>
            </a:r>
            <a:r>
              <a:rPr lang="es-CO" sz="4000" dirty="0" err="1"/>
              <a:t>For</a:t>
            </a:r>
            <a:r>
              <a:rPr lang="es-CO" sz="4000" dirty="0"/>
              <a:t> – </a:t>
            </a:r>
            <a:r>
              <a:rPr lang="es-CO" sz="4000" dirty="0" err="1"/>
              <a:t>While</a:t>
            </a:r>
            <a:r>
              <a:rPr lang="es-CO" sz="4000" dirty="0"/>
              <a:t> y Do </a:t>
            </a:r>
            <a:r>
              <a:rPr lang="es-CO" sz="4000" dirty="0" err="1"/>
              <a:t>while</a:t>
            </a:r>
            <a:endParaRPr lang="es-CO" sz="4000" dirty="0"/>
          </a:p>
        </p:txBody>
      </p:sp>
      <p:sp>
        <p:nvSpPr>
          <p:cNvPr id="5" name="Marcador de contenido 3">
            <a:extLst>
              <a:ext uri="{FF2B5EF4-FFF2-40B4-BE49-F238E27FC236}">
                <a16:creationId xmlns:a16="http://schemas.microsoft.com/office/drawing/2014/main" id="{0E8515C8-3A18-40CA-9B7A-EDB8A5F4EEAC}"/>
              </a:ext>
            </a:extLst>
          </p:cNvPr>
          <p:cNvSpPr txBox="1">
            <a:spLocks/>
          </p:cNvSpPr>
          <p:nvPr/>
        </p:nvSpPr>
        <p:spPr>
          <a:xfrm>
            <a:off x="2834434" y="3141370"/>
            <a:ext cx="3515686" cy="297712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s-CO" b="1" i="1" dirty="0" err="1">
                <a:solidFill>
                  <a:schemeClr val="accent6">
                    <a:lumMod val="50000"/>
                  </a:schemeClr>
                </a:solidFill>
                <a:highlight>
                  <a:srgbClr val="C0C0C0"/>
                </a:highlight>
              </a:rPr>
              <a:t>expresion</a:t>
            </a:r>
            <a:r>
              <a:rPr lang="es-CO" b="1" i="1" dirty="0">
                <a:solidFill>
                  <a:schemeClr val="accent6">
                    <a:lumMod val="50000"/>
                  </a:schemeClr>
                </a:solidFill>
                <a:highlight>
                  <a:srgbClr val="C0C0C0"/>
                </a:highlight>
              </a:rPr>
              <a:t>-inicial;</a:t>
            </a:r>
          </a:p>
          <a:p>
            <a:pPr marL="0" indent="0" algn="just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s-CO" b="1" i="1" dirty="0" err="1">
                <a:solidFill>
                  <a:schemeClr val="accent6">
                    <a:lumMod val="50000"/>
                  </a:schemeClr>
                </a:solidFill>
                <a:highlight>
                  <a:srgbClr val="C0C0C0"/>
                </a:highlight>
              </a:rPr>
              <a:t>while</a:t>
            </a:r>
            <a:r>
              <a:rPr lang="es-CO" b="1" i="1" dirty="0">
                <a:solidFill>
                  <a:schemeClr val="accent6">
                    <a:lumMod val="50000"/>
                  </a:schemeClr>
                </a:solidFill>
                <a:highlight>
                  <a:srgbClr val="C0C0C0"/>
                </a:highlight>
              </a:rPr>
              <a:t> (</a:t>
            </a:r>
            <a:r>
              <a:rPr lang="es-CO" b="1" i="1" dirty="0" err="1">
                <a:solidFill>
                  <a:schemeClr val="accent6">
                    <a:lumMod val="50000"/>
                  </a:schemeClr>
                </a:solidFill>
                <a:highlight>
                  <a:srgbClr val="C0C0C0"/>
                </a:highlight>
              </a:rPr>
              <a:t>condicion</a:t>
            </a:r>
            <a:r>
              <a:rPr lang="es-CO" b="1" i="1" dirty="0">
                <a:solidFill>
                  <a:schemeClr val="accent6">
                    <a:lumMod val="50000"/>
                  </a:schemeClr>
                </a:solidFill>
                <a:highlight>
                  <a:srgbClr val="C0C0C0"/>
                </a:highlight>
              </a:rPr>
              <a:t>){</a:t>
            </a:r>
          </a:p>
          <a:p>
            <a:pPr marL="0" indent="0" algn="just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s-CO" b="1" i="1" dirty="0">
                <a:solidFill>
                  <a:schemeClr val="accent6">
                    <a:lumMod val="50000"/>
                  </a:schemeClr>
                </a:solidFill>
                <a:highlight>
                  <a:srgbClr val="C0C0C0"/>
                </a:highlight>
              </a:rPr>
              <a:t>  sentencia;</a:t>
            </a:r>
          </a:p>
          <a:p>
            <a:pPr marL="0" indent="0" algn="just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s-CO" b="1" i="1" dirty="0">
                <a:solidFill>
                  <a:schemeClr val="accent6">
                    <a:lumMod val="50000"/>
                  </a:schemeClr>
                </a:solidFill>
                <a:highlight>
                  <a:srgbClr val="C0C0C0"/>
                </a:highlight>
              </a:rPr>
              <a:t>  sentencia;</a:t>
            </a:r>
          </a:p>
          <a:p>
            <a:pPr marL="0" indent="0" algn="just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s-CO" b="1" i="1" dirty="0">
                <a:solidFill>
                  <a:schemeClr val="accent6">
                    <a:lumMod val="50000"/>
                  </a:schemeClr>
                </a:solidFill>
                <a:highlight>
                  <a:srgbClr val="C0C0C0"/>
                </a:highlight>
              </a:rPr>
              <a:t>  ...</a:t>
            </a:r>
          </a:p>
          <a:p>
            <a:pPr marL="0" indent="0" algn="just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s-CO" b="1" i="1" dirty="0">
                <a:solidFill>
                  <a:schemeClr val="accent6">
                    <a:lumMod val="50000"/>
                  </a:schemeClr>
                </a:solidFill>
                <a:highlight>
                  <a:srgbClr val="C0C0C0"/>
                </a:highlight>
              </a:rPr>
              <a:t>  incremento;</a:t>
            </a:r>
          </a:p>
          <a:p>
            <a:pPr marL="0" indent="0" algn="just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s-CO" b="1" i="1" dirty="0">
                <a:solidFill>
                  <a:schemeClr val="accent6">
                    <a:lumMod val="50000"/>
                  </a:schemeClr>
                </a:solidFill>
                <a:highlight>
                  <a:srgbClr val="C0C0C0"/>
                </a:highlight>
              </a:rPr>
              <a:t>}</a:t>
            </a:r>
          </a:p>
          <a:p>
            <a:pPr marL="0" indent="0" algn="just">
              <a:spcBef>
                <a:spcPts val="0"/>
              </a:spcBef>
              <a:buFont typeface="Arial" panose="020B0604020202020204" pitchFamily="34" charset="0"/>
              <a:buNone/>
            </a:pPr>
            <a:endParaRPr lang="es-CO" i="1" dirty="0"/>
          </a:p>
          <a:p>
            <a:endParaRPr lang="es-CO" dirty="0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6A6B104-5340-457B-9769-ED9B703FDB9C}"/>
              </a:ext>
            </a:extLst>
          </p:cNvPr>
          <p:cNvSpPr txBox="1">
            <a:spLocks/>
          </p:cNvSpPr>
          <p:nvPr/>
        </p:nvSpPr>
        <p:spPr>
          <a:xfrm>
            <a:off x="6740717" y="3145257"/>
            <a:ext cx="3533000" cy="297712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pt-BR" i="1" dirty="0" err="1">
                <a:solidFill>
                  <a:srgbClr val="FF0000"/>
                </a:solidFill>
                <a:highlight>
                  <a:srgbClr val="FFFF00"/>
                </a:highlight>
              </a:rPr>
              <a:t>expresion</a:t>
            </a:r>
            <a:r>
              <a:rPr lang="pt-BR" i="1" dirty="0">
                <a:solidFill>
                  <a:srgbClr val="FF0000"/>
                </a:solidFill>
                <a:highlight>
                  <a:srgbClr val="FFFF00"/>
                </a:highlight>
              </a:rPr>
              <a:t>-inicial;</a:t>
            </a:r>
          </a:p>
          <a:p>
            <a:pPr marL="0" indent="0" algn="just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pt-BR" i="1" dirty="0">
                <a:solidFill>
                  <a:srgbClr val="FF0000"/>
                </a:solidFill>
                <a:highlight>
                  <a:srgbClr val="FFFF00"/>
                </a:highlight>
              </a:rPr>
              <a:t>do {</a:t>
            </a:r>
          </a:p>
          <a:p>
            <a:pPr marL="0" indent="0" algn="just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pt-BR" i="1" dirty="0">
                <a:solidFill>
                  <a:srgbClr val="FF0000"/>
                </a:solidFill>
                <a:highlight>
                  <a:srgbClr val="FFFF00"/>
                </a:highlight>
              </a:rPr>
              <a:t>  sentencia;</a:t>
            </a:r>
          </a:p>
          <a:p>
            <a:pPr marL="0" indent="0" algn="just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pt-BR" i="1" dirty="0">
                <a:solidFill>
                  <a:srgbClr val="FF0000"/>
                </a:solidFill>
                <a:highlight>
                  <a:srgbClr val="FFFF00"/>
                </a:highlight>
              </a:rPr>
              <a:t>  sentencia;</a:t>
            </a:r>
          </a:p>
          <a:p>
            <a:pPr marL="0" indent="0" algn="just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pt-BR" i="1" dirty="0">
                <a:solidFill>
                  <a:srgbClr val="FF0000"/>
                </a:solidFill>
                <a:highlight>
                  <a:srgbClr val="FFFF00"/>
                </a:highlight>
              </a:rPr>
              <a:t>  ...</a:t>
            </a:r>
          </a:p>
          <a:p>
            <a:pPr marL="0" indent="0" algn="just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pt-BR" i="1" dirty="0">
                <a:solidFill>
                  <a:srgbClr val="FF0000"/>
                </a:solidFill>
                <a:highlight>
                  <a:srgbClr val="FFFF00"/>
                </a:highlight>
              </a:rPr>
              <a:t>  incremento;</a:t>
            </a:r>
          </a:p>
          <a:p>
            <a:pPr marL="0" indent="0" algn="just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pt-BR" i="1" dirty="0">
                <a:solidFill>
                  <a:srgbClr val="FF0000"/>
                </a:solidFill>
                <a:highlight>
                  <a:srgbClr val="FFFF00"/>
                </a:highlight>
              </a:rPr>
              <a:t>} </a:t>
            </a:r>
            <a:r>
              <a:rPr lang="pt-BR" i="1" dirty="0" err="1">
                <a:solidFill>
                  <a:srgbClr val="FF0000"/>
                </a:solidFill>
                <a:highlight>
                  <a:srgbClr val="FFFF00"/>
                </a:highlight>
              </a:rPr>
              <a:t>while</a:t>
            </a:r>
            <a:r>
              <a:rPr lang="pt-BR" i="1" dirty="0">
                <a:solidFill>
                  <a:srgbClr val="FF0000"/>
                </a:solidFill>
                <a:highlight>
                  <a:srgbClr val="FFFF00"/>
                </a:highlight>
              </a:rPr>
              <a:t> (</a:t>
            </a:r>
            <a:r>
              <a:rPr lang="pt-BR" i="1" dirty="0" err="1">
                <a:solidFill>
                  <a:srgbClr val="FF0000"/>
                </a:solidFill>
                <a:highlight>
                  <a:srgbClr val="FFFF00"/>
                </a:highlight>
              </a:rPr>
              <a:t>condicion</a:t>
            </a:r>
            <a:r>
              <a:rPr lang="pt-BR" i="1" dirty="0">
                <a:solidFill>
                  <a:srgbClr val="FF0000"/>
                </a:solidFill>
                <a:highlight>
                  <a:srgbClr val="FFFF00"/>
                </a:highlight>
              </a:rPr>
              <a:t>);</a:t>
            </a:r>
            <a:endParaRPr lang="es-CO" i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8644834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727239C1-989D-0BE1-9BA8-F5A90423A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534"/>
            <a:ext cx="10515600" cy="885825"/>
          </a:xfrm>
        </p:spPr>
        <p:txBody>
          <a:bodyPr>
            <a:normAutofit/>
          </a:bodyPr>
          <a:lstStyle/>
          <a:p>
            <a:r>
              <a:rPr lang="es-CO" sz="4000" dirty="0"/>
              <a:t>JavaScript – Bucles </a:t>
            </a:r>
            <a:r>
              <a:rPr lang="es-CO" sz="4000" dirty="0" err="1"/>
              <a:t>For</a:t>
            </a:r>
            <a:r>
              <a:rPr lang="es-CO" sz="4000" dirty="0"/>
              <a:t> – </a:t>
            </a:r>
            <a:r>
              <a:rPr lang="es-CO" sz="4000" dirty="0" err="1"/>
              <a:t>While</a:t>
            </a:r>
            <a:r>
              <a:rPr lang="es-CO" sz="4000" dirty="0"/>
              <a:t> y Do </a:t>
            </a:r>
            <a:r>
              <a:rPr lang="es-CO" sz="4000" dirty="0" err="1"/>
              <a:t>while</a:t>
            </a:r>
            <a:endParaRPr lang="es-CO" sz="4000" dirty="0"/>
          </a:p>
        </p:txBody>
      </p:sp>
      <p:sp>
        <p:nvSpPr>
          <p:cNvPr id="5" name="Marcador de contenido 3">
            <a:extLst>
              <a:ext uri="{FF2B5EF4-FFF2-40B4-BE49-F238E27FC236}">
                <a16:creationId xmlns:a16="http://schemas.microsoft.com/office/drawing/2014/main" id="{0E8515C8-3A18-40CA-9B7A-EDB8A5F4EEAC}"/>
              </a:ext>
            </a:extLst>
          </p:cNvPr>
          <p:cNvSpPr txBox="1">
            <a:spLocks/>
          </p:cNvSpPr>
          <p:nvPr/>
        </p:nvSpPr>
        <p:spPr>
          <a:xfrm>
            <a:off x="553674" y="3141370"/>
            <a:ext cx="5469622" cy="2508615"/>
          </a:xfrm>
          <a:prstGeom prst="rect">
            <a:avLst/>
          </a:prstGeom>
          <a:solidFill>
            <a:schemeClr val="tx1"/>
          </a:solidFill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s-CO" dirty="0" err="1">
                <a:solidFill>
                  <a:srgbClr val="569CD6"/>
                </a:solidFill>
                <a:latin typeface="Consolas" panose="020B0609020204030204" pitchFamily="49" charset="0"/>
              </a:rPr>
              <a:t>let</a:t>
            </a:r>
            <a:r>
              <a:rPr lang="es-CO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s-CO" dirty="0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es-CO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s-CO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s-CO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s-CO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s-CO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CO" dirty="0" err="1">
                <a:solidFill>
                  <a:srgbClr val="C586C0"/>
                </a:solidFill>
                <a:latin typeface="Consolas" panose="020B0609020204030204" pitchFamily="49" charset="0"/>
              </a:rPr>
              <a:t>while</a:t>
            </a:r>
            <a:r>
              <a:rPr lang="es-CO" dirty="0">
                <a:solidFill>
                  <a:srgbClr val="CCCCCC"/>
                </a:solidFill>
                <a:latin typeface="Consolas" panose="020B0609020204030204" pitchFamily="49" charset="0"/>
              </a:rPr>
              <a:t> (</a:t>
            </a:r>
            <a:r>
              <a:rPr lang="es-CO" dirty="0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es-CO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s-CO" dirty="0">
                <a:solidFill>
                  <a:srgbClr val="D4D4D4"/>
                </a:solidFill>
                <a:latin typeface="Consolas" panose="020B0609020204030204" pitchFamily="49" charset="0"/>
              </a:rPr>
              <a:t>&lt;=</a:t>
            </a:r>
            <a:r>
              <a:rPr lang="es-CO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s-CO" dirty="0">
                <a:solidFill>
                  <a:srgbClr val="B5CEA8"/>
                </a:solidFill>
                <a:latin typeface="Consolas" panose="020B0609020204030204" pitchFamily="49" charset="0"/>
              </a:rPr>
              <a:t>10</a:t>
            </a:r>
            <a:r>
              <a:rPr lang="es-CO" dirty="0">
                <a:solidFill>
                  <a:srgbClr val="CCCCCC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CO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s-CO" dirty="0" err="1">
                <a:solidFill>
                  <a:srgbClr val="9CDCFE"/>
                </a:solidFill>
                <a:latin typeface="Consolas" panose="020B0609020204030204" pitchFamily="49" charset="0"/>
              </a:rPr>
              <a:t>document</a:t>
            </a:r>
            <a:r>
              <a:rPr lang="es-CO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s-CO" dirty="0" err="1">
                <a:solidFill>
                  <a:srgbClr val="DCDCAA"/>
                </a:solidFill>
                <a:latin typeface="Consolas" panose="020B0609020204030204" pitchFamily="49" charset="0"/>
              </a:rPr>
              <a:t>write</a:t>
            </a:r>
            <a:r>
              <a:rPr lang="es-CO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s-CO" dirty="0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es-CO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CO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s-CO" dirty="0" err="1">
                <a:solidFill>
                  <a:srgbClr val="9CDCFE"/>
                </a:solidFill>
                <a:latin typeface="Consolas" panose="020B0609020204030204" pitchFamily="49" charset="0"/>
              </a:rPr>
              <a:t>document</a:t>
            </a:r>
            <a:r>
              <a:rPr lang="es-CO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s-CO" dirty="0" err="1">
                <a:solidFill>
                  <a:srgbClr val="DCDCAA"/>
                </a:solidFill>
                <a:latin typeface="Consolas" panose="020B0609020204030204" pitchFamily="49" charset="0"/>
              </a:rPr>
              <a:t>write</a:t>
            </a:r>
            <a:r>
              <a:rPr lang="es-CO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s-CO" dirty="0">
                <a:solidFill>
                  <a:srgbClr val="CE9178"/>
                </a:solidFill>
                <a:latin typeface="Consolas" panose="020B0609020204030204" pitchFamily="49" charset="0"/>
              </a:rPr>
              <a:t>'&lt;</a:t>
            </a:r>
            <a:r>
              <a:rPr lang="es-CO" dirty="0" err="1">
                <a:solidFill>
                  <a:srgbClr val="CE9178"/>
                </a:solidFill>
                <a:latin typeface="Consolas" panose="020B0609020204030204" pitchFamily="49" charset="0"/>
              </a:rPr>
              <a:t>br</a:t>
            </a:r>
            <a:r>
              <a:rPr lang="es-CO" dirty="0">
                <a:solidFill>
                  <a:srgbClr val="CE9178"/>
                </a:solidFill>
                <a:latin typeface="Consolas" panose="020B0609020204030204" pitchFamily="49" charset="0"/>
              </a:rPr>
              <a:t>&gt;'</a:t>
            </a:r>
            <a:r>
              <a:rPr lang="es-CO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CO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s-CO" dirty="0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es-CO" dirty="0">
                <a:solidFill>
                  <a:srgbClr val="D4D4D4"/>
                </a:solidFill>
                <a:latin typeface="Consolas" panose="020B0609020204030204" pitchFamily="49" charset="0"/>
              </a:rPr>
              <a:t>++</a:t>
            </a:r>
            <a:r>
              <a:rPr lang="es-CO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CO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  <a:endParaRPr lang="es-CO" i="1" dirty="0"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s-CO" dirty="0">
              <a:latin typeface="Consolas" panose="020B0609020204030204" pitchFamily="49" charset="0"/>
            </a:endParaRP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6A6B104-5340-457B-9769-ED9B703FDB9C}"/>
              </a:ext>
            </a:extLst>
          </p:cNvPr>
          <p:cNvSpPr txBox="1">
            <a:spLocks/>
          </p:cNvSpPr>
          <p:nvPr/>
        </p:nvSpPr>
        <p:spPr>
          <a:xfrm>
            <a:off x="6543412" y="3145257"/>
            <a:ext cx="5469621" cy="250472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pt-BR" dirty="0" err="1">
                <a:solidFill>
                  <a:srgbClr val="569CD6"/>
                </a:solidFill>
                <a:latin typeface="Consolas" panose="020B0609020204030204" pitchFamily="49" charset="0"/>
              </a:rPr>
              <a:t>let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dirty="0">
                <a:solidFill>
                  <a:srgbClr val="C586C0"/>
                </a:solidFill>
                <a:latin typeface="Consolas" panose="020B0609020204030204" pitchFamily="49" charset="0"/>
              </a:rPr>
              <a:t>do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t-BR" dirty="0" err="1">
                <a:solidFill>
                  <a:srgbClr val="9CDCFE"/>
                </a:solidFill>
                <a:latin typeface="Consolas" panose="020B0609020204030204" pitchFamily="49" charset="0"/>
              </a:rPr>
              <a:t>document</a:t>
            </a:r>
            <a:r>
              <a:rPr lang="pt-BR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DCDCAA"/>
                </a:solidFill>
                <a:latin typeface="Consolas" panose="020B0609020204030204" pitchFamily="49" charset="0"/>
              </a:rPr>
              <a:t>write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t-BR" dirty="0" err="1">
                <a:solidFill>
                  <a:srgbClr val="9CDCFE"/>
                </a:solidFill>
                <a:latin typeface="Consolas" panose="020B0609020204030204" pitchFamily="49" charset="0"/>
              </a:rPr>
              <a:t>document</a:t>
            </a:r>
            <a:r>
              <a:rPr lang="pt-BR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DCDCAA"/>
                </a:solidFill>
                <a:latin typeface="Consolas" panose="020B0609020204030204" pitchFamily="49" charset="0"/>
              </a:rPr>
              <a:t>write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'&lt;</a:t>
            </a:r>
            <a:r>
              <a:rPr lang="pt-BR" dirty="0" err="1">
                <a:solidFill>
                  <a:srgbClr val="CE9178"/>
                </a:solidFill>
                <a:latin typeface="Consolas" panose="020B0609020204030204" pitchFamily="49" charset="0"/>
              </a:rPr>
              <a:t>br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&gt;'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t-BR" dirty="0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++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} </a:t>
            </a:r>
            <a:r>
              <a:rPr lang="pt-BR" dirty="0" err="1">
                <a:solidFill>
                  <a:srgbClr val="C586C0"/>
                </a:solidFill>
                <a:latin typeface="Consolas" panose="020B0609020204030204" pitchFamily="49" charset="0"/>
              </a:rPr>
              <a:t>while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 (</a:t>
            </a:r>
            <a:r>
              <a:rPr lang="pt-BR" dirty="0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&lt;=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10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  <a:endParaRPr lang="es-CO" dirty="0"/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F44E2CE8-E72E-43A7-91BB-1050D577D7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6788" y="1208015"/>
            <a:ext cx="7718425" cy="1406598"/>
          </a:xfrm>
          <a:solidFill>
            <a:schemeClr val="tx1">
              <a:lumMod val="50000"/>
              <a:lumOff val="50000"/>
            </a:schemeClr>
          </a:solidFill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s-CO" sz="2400" dirty="0" err="1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s-CO" sz="2400" dirty="0">
                <a:solidFill>
                  <a:srgbClr val="CCCCCC"/>
                </a:solidFill>
                <a:latin typeface="Consolas" panose="020B0609020204030204" pitchFamily="49" charset="0"/>
              </a:rPr>
              <a:t> (</a:t>
            </a:r>
            <a:r>
              <a:rPr lang="es-CO" sz="2400" dirty="0" err="1">
                <a:solidFill>
                  <a:srgbClr val="569CD6"/>
                </a:solidFill>
                <a:latin typeface="Consolas" panose="020B0609020204030204" pitchFamily="49" charset="0"/>
              </a:rPr>
              <a:t>let</a:t>
            </a:r>
            <a:r>
              <a:rPr lang="es-CO" sz="2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s-CO" sz="2400" dirty="0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es-CO" sz="2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s-CO" sz="24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s-CO" sz="2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s-CO" sz="24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s-CO" sz="2400" dirty="0">
                <a:solidFill>
                  <a:srgbClr val="CCCCCC"/>
                </a:solidFill>
                <a:latin typeface="Consolas" panose="020B0609020204030204" pitchFamily="49" charset="0"/>
              </a:rPr>
              <a:t>; </a:t>
            </a:r>
            <a:r>
              <a:rPr lang="es-CO" sz="2400" dirty="0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es-CO" sz="2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s-CO" sz="2400" dirty="0">
                <a:solidFill>
                  <a:srgbClr val="D4D4D4"/>
                </a:solidFill>
                <a:latin typeface="Consolas" panose="020B0609020204030204" pitchFamily="49" charset="0"/>
              </a:rPr>
              <a:t>&lt;=</a:t>
            </a:r>
            <a:r>
              <a:rPr lang="es-CO" sz="2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s-CO" sz="2400" dirty="0">
                <a:solidFill>
                  <a:srgbClr val="B5CEA8"/>
                </a:solidFill>
                <a:latin typeface="Consolas" panose="020B0609020204030204" pitchFamily="49" charset="0"/>
              </a:rPr>
              <a:t>10</a:t>
            </a:r>
            <a:r>
              <a:rPr lang="es-CO" sz="2400" dirty="0">
                <a:solidFill>
                  <a:srgbClr val="CCCCCC"/>
                </a:solidFill>
                <a:latin typeface="Consolas" panose="020B0609020204030204" pitchFamily="49" charset="0"/>
              </a:rPr>
              <a:t>; </a:t>
            </a:r>
            <a:r>
              <a:rPr lang="es-CO" sz="2400" dirty="0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es-CO" sz="2400" dirty="0">
                <a:solidFill>
                  <a:srgbClr val="D4D4D4"/>
                </a:solidFill>
                <a:latin typeface="Consolas" panose="020B0609020204030204" pitchFamily="49" charset="0"/>
              </a:rPr>
              <a:t>++</a:t>
            </a:r>
            <a:r>
              <a:rPr lang="es-CO" sz="2400" dirty="0">
                <a:solidFill>
                  <a:srgbClr val="CCCCCC"/>
                </a:solidFill>
                <a:latin typeface="Consolas" panose="020B0609020204030204" pitchFamily="49" charset="0"/>
              </a:rPr>
              <a:t>){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CO" sz="24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s-CO" sz="2400" dirty="0" err="1">
                <a:solidFill>
                  <a:srgbClr val="9CDCFE"/>
                </a:solidFill>
                <a:latin typeface="Consolas" panose="020B0609020204030204" pitchFamily="49" charset="0"/>
              </a:rPr>
              <a:t>document</a:t>
            </a:r>
            <a:r>
              <a:rPr lang="es-CO" sz="24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s-CO" sz="2400" dirty="0" err="1">
                <a:solidFill>
                  <a:srgbClr val="DCDCAA"/>
                </a:solidFill>
                <a:latin typeface="Consolas" panose="020B0609020204030204" pitchFamily="49" charset="0"/>
              </a:rPr>
              <a:t>write</a:t>
            </a:r>
            <a:r>
              <a:rPr lang="es-CO" sz="24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s-CO" sz="2400" dirty="0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es-CO" sz="24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CO" sz="24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s-CO" sz="2400" dirty="0" err="1">
                <a:solidFill>
                  <a:srgbClr val="9CDCFE"/>
                </a:solidFill>
                <a:latin typeface="Consolas" panose="020B0609020204030204" pitchFamily="49" charset="0"/>
              </a:rPr>
              <a:t>document</a:t>
            </a:r>
            <a:r>
              <a:rPr lang="es-CO" sz="24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s-CO" sz="2400" dirty="0" err="1">
                <a:solidFill>
                  <a:srgbClr val="DCDCAA"/>
                </a:solidFill>
                <a:latin typeface="Consolas" panose="020B0609020204030204" pitchFamily="49" charset="0"/>
              </a:rPr>
              <a:t>write</a:t>
            </a:r>
            <a:r>
              <a:rPr lang="es-CO" sz="24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s-CO" sz="2400" dirty="0">
                <a:solidFill>
                  <a:srgbClr val="CE9178"/>
                </a:solidFill>
                <a:latin typeface="Consolas" panose="020B0609020204030204" pitchFamily="49" charset="0"/>
              </a:rPr>
              <a:t>'&lt;</a:t>
            </a:r>
            <a:r>
              <a:rPr lang="es-CO" sz="2400" dirty="0" err="1">
                <a:solidFill>
                  <a:srgbClr val="CE9178"/>
                </a:solidFill>
                <a:latin typeface="Consolas" panose="020B0609020204030204" pitchFamily="49" charset="0"/>
              </a:rPr>
              <a:t>br</a:t>
            </a:r>
            <a:r>
              <a:rPr lang="es-CO" sz="2400" dirty="0">
                <a:solidFill>
                  <a:srgbClr val="CE9178"/>
                </a:solidFill>
                <a:latin typeface="Consolas" panose="020B0609020204030204" pitchFamily="49" charset="0"/>
              </a:rPr>
              <a:t>&gt;'</a:t>
            </a:r>
            <a:r>
              <a:rPr lang="es-CO" sz="24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CO" sz="2400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 algn="just">
              <a:spcBef>
                <a:spcPts val="0"/>
              </a:spcBef>
              <a:buNone/>
            </a:pPr>
            <a:endParaRPr lang="es-ES" sz="2400" i="1" dirty="0"/>
          </a:p>
        </p:txBody>
      </p:sp>
    </p:spTree>
    <p:extLst>
      <p:ext uri="{BB962C8B-B14F-4D97-AF65-F5344CB8AC3E}">
        <p14:creationId xmlns:p14="http://schemas.microsoft.com/office/powerpoint/2010/main" val="32474152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B36CEE-9CBA-49EC-BB81-314097B76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862589"/>
          </a:xfrm>
        </p:spPr>
        <p:txBody>
          <a:bodyPr/>
          <a:lstStyle/>
          <a:p>
            <a:r>
              <a:rPr lang="es-CO" dirty="0"/>
              <a:t>Ejercicio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445E8D-0883-453B-B749-40EECCE63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3458"/>
            <a:ext cx="10515600" cy="5184396"/>
          </a:xfrm>
        </p:spPr>
        <p:txBody>
          <a:bodyPr>
            <a:normAutofit fontScale="85000" lnSpcReduction="10000"/>
          </a:bodyPr>
          <a:lstStyle/>
          <a:p>
            <a:pPr marL="0" indent="0" algn="just">
              <a:buNone/>
            </a:pPr>
            <a:r>
              <a:rPr lang="es-CO" dirty="0"/>
              <a:t>La distribuidora de huevos “Todo a Precio de Huevo”, desea un software que le permita calcular las ventas para sus clientes. Para tal efecto tiene en cuenta las siguientes premisas: los huevos los hay tipo “A”, “AA” y “AAA”. Los huevos “A” tienen un valor de $600 la unidad. Los “AA</a:t>
            </a:r>
            <a:r>
              <a:rPr lang="es-CO"/>
              <a:t>”, $700 </a:t>
            </a:r>
            <a:r>
              <a:rPr lang="es-CO" dirty="0"/>
              <a:t>c/u y los “AAA</a:t>
            </a:r>
            <a:r>
              <a:rPr lang="es-CO"/>
              <a:t>” $750 </a:t>
            </a:r>
            <a:r>
              <a:rPr lang="es-CO" dirty="0"/>
              <a:t>por huevo.</a:t>
            </a:r>
          </a:p>
          <a:p>
            <a:pPr marL="0" indent="0" algn="just">
              <a:buNone/>
            </a:pPr>
            <a:r>
              <a:rPr lang="es-CO" dirty="0"/>
              <a:t>Si un cliente compra entre 30 y 45 huevos, tiene un descuento del 10% en el precio de la compra. Si el cliente compra entre 46 y 70, el descuento es del 15%. Entre 71 y 100, se hace acreedor al 20% de descuento. A más de 100, el descuento es del 25%. Sin embargo, para los clientes denominados “Frecuentes”, hay un descuento adicional del 2,5%.</a:t>
            </a:r>
          </a:p>
          <a:p>
            <a:pPr marL="0" indent="0" algn="just">
              <a:buNone/>
            </a:pPr>
            <a:r>
              <a:rPr lang="es-CO" dirty="0"/>
              <a:t>Si el cliente compra entre lunes y viernes, se le hace un aumento del 5% al precio final de la compra. Si compra el sábado, el precio tiene un descuento del 5% sobre el precio final de venta. Sin embargo, al comprar en domingo, no hay variación al precio final de venta. </a:t>
            </a:r>
          </a:p>
          <a:p>
            <a:pPr marL="0" indent="0" algn="just">
              <a:buNone/>
            </a:pPr>
            <a:r>
              <a:rPr lang="es-CO" dirty="0"/>
              <a:t>Desarrolle(n) un programa que calcule cuánto se debe pagar por compra o venta de huevos, según se vea. El cliente puede comprar la cantidad de huevos que desee y el tipo de huevo que quiera.</a:t>
            </a:r>
          </a:p>
        </p:txBody>
      </p:sp>
    </p:spTree>
    <p:extLst>
      <p:ext uri="{BB962C8B-B14F-4D97-AF65-F5344CB8AC3E}">
        <p14:creationId xmlns:p14="http://schemas.microsoft.com/office/powerpoint/2010/main" val="8116494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B36CEE-9CBA-49EC-BB81-314097B76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862589"/>
          </a:xfrm>
        </p:spPr>
        <p:txBody>
          <a:bodyPr/>
          <a:lstStyle/>
          <a:p>
            <a:r>
              <a:rPr lang="es-CO" dirty="0"/>
              <a:t>Ejercicio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445E8D-0883-453B-B749-40EECCE63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3458"/>
            <a:ext cx="10515600" cy="5184396"/>
          </a:xfrm>
        </p:spPr>
        <p:txBody>
          <a:bodyPr>
            <a:normAutofit/>
          </a:bodyPr>
          <a:lstStyle/>
          <a:p>
            <a:r>
              <a:rPr lang="es-CO" sz="3600" dirty="0"/>
              <a:t>Dado N y X calcular: </a:t>
            </a:r>
          </a:p>
          <a:p>
            <a:pPr marL="0" indent="0">
              <a:buNone/>
            </a:pPr>
            <a:r>
              <a:rPr lang="es-ES" sz="3600" dirty="0"/>
              <a:t>			</a:t>
            </a:r>
          </a:p>
          <a:p>
            <a:pPr marL="0" indent="0">
              <a:buNone/>
            </a:pPr>
            <a:endParaRPr lang="es-CO" sz="3600" dirty="0"/>
          </a:p>
          <a:p>
            <a:pPr marL="0" indent="0">
              <a:buNone/>
            </a:pPr>
            <a:endParaRPr lang="es-CO" sz="3600" dirty="0"/>
          </a:p>
          <a:p>
            <a:r>
              <a:rPr lang="es-CO" sz="3600" dirty="0"/>
              <a:t>Hacer un programa que clasifique 400 personas según el deporte que practica. Los deportes son: Ajedrez, Atletismo, Fútbol, Gimnasia, Natación.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81E47B24-81DE-4701-9888-CCD6974554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O"/>
          </a:p>
        </p:txBody>
      </p:sp>
      <p:graphicFrame>
        <p:nvGraphicFramePr>
          <p:cNvPr id="8" name="Objeto 7">
            <a:extLst>
              <a:ext uri="{FF2B5EF4-FFF2-40B4-BE49-F238E27FC236}">
                <a16:creationId xmlns:a16="http://schemas.microsoft.com/office/drawing/2014/main" id="{BCF93CA3-C9C7-4917-8C4D-8F145ACE72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763877"/>
              </p:ext>
            </p:extLst>
          </p:nvPr>
        </p:nvGraphicFramePr>
        <p:xfrm>
          <a:off x="3124198" y="1842447"/>
          <a:ext cx="5943604" cy="14193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" r:id="rId3" imgW="1905000" imgH="419100" progId="Equation.3">
                  <p:embed/>
                </p:oleObj>
              </mc:Choice>
              <mc:Fallback>
                <p:oleObj r:id="rId3" imgW="1905000" imgH="419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198" y="1842447"/>
                        <a:ext cx="5943604" cy="141936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061534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B36CEE-9CBA-49EC-BB81-314097B76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862589"/>
          </a:xfrm>
        </p:spPr>
        <p:txBody>
          <a:bodyPr/>
          <a:lstStyle/>
          <a:p>
            <a:r>
              <a:rPr lang="es-CO" dirty="0"/>
              <a:t>Ejercicio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445E8D-0883-453B-B749-40EECCE63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3458"/>
            <a:ext cx="10515600" cy="5184396"/>
          </a:xfrm>
        </p:spPr>
        <p:txBody>
          <a:bodyPr>
            <a:normAutofit lnSpcReduction="10000"/>
          </a:bodyPr>
          <a:lstStyle/>
          <a:p>
            <a:pPr algn="just"/>
            <a:r>
              <a:rPr lang="es-ES" sz="3600" dirty="0"/>
              <a:t>Escribir un script que pida al usuario una contraseña. Si coincide con la clave definida en el script le devolverá el mensaje "Acceso concedido" y si no coincide le devolverá el mensaje "Acceso Denegado" . Si falla tres veces se emitirá el mensaje "Alerta, intruso“.	</a:t>
            </a:r>
          </a:p>
          <a:p>
            <a:pPr algn="just"/>
            <a:r>
              <a:rPr lang="es-ES" sz="3600" dirty="0"/>
              <a:t>Este script le pide al usuario que vaya tecleando números una y otra vez, pero solo números pares, en caso de que teclee un número impar el programa acabará y dirá la cantidad de números pares ingresados (el 0 cuenta como par).</a:t>
            </a:r>
            <a:endParaRPr lang="es-CO" sz="3600" dirty="0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81E47B24-81DE-4701-9888-CCD6974554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522172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727239C1-989D-0BE1-9BA8-F5A90423A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35038"/>
          </a:xfrm>
        </p:spPr>
        <p:txBody>
          <a:bodyPr>
            <a:normAutofit/>
          </a:bodyPr>
          <a:lstStyle/>
          <a:p>
            <a:r>
              <a:rPr lang="es-CO" sz="4000" dirty="0"/>
              <a:t>JavaScript – Objeto </a:t>
            </a:r>
            <a:r>
              <a:rPr lang="es-CO" sz="4000" dirty="0" err="1"/>
              <a:t>Math</a:t>
            </a:r>
            <a:endParaRPr lang="es-CO" sz="4000" dirty="0"/>
          </a:p>
        </p:txBody>
      </p:sp>
      <p:graphicFrame>
        <p:nvGraphicFramePr>
          <p:cNvPr id="5" name="Tabla 5">
            <a:extLst>
              <a:ext uri="{FF2B5EF4-FFF2-40B4-BE49-F238E27FC236}">
                <a16:creationId xmlns:a16="http://schemas.microsoft.com/office/drawing/2014/main" id="{AEFD95D8-E858-3137-DCFF-12FDBF68A3E1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269535881"/>
              </p:ext>
            </p:extLst>
          </p:nvPr>
        </p:nvGraphicFramePr>
        <p:xfrm>
          <a:off x="709612" y="1425572"/>
          <a:ext cx="10772775" cy="49672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8925">
                  <a:extLst>
                    <a:ext uri="{9D8B030D-6E8A-4147-A177-3AD203B41FA5}">
                      <a16:colId xmlns:a16="http://schemas.microsoft.com/office/drawing/2014/main" val="1267205962"/>
                    </a:ext>
                  </a:extLst>
                </a:gridCol>
                <a:gridCol w="2814637">
                  <a:extLst>
                    <a:ext uri="{9D8B030D-6E8A-4147-A177-3AD203B41FA5}">
                      <a16:colId xmlns:a16="http://schemas.microsoft.com/office/drawing/2014/main" val="364960519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1610240457"/>
                    </a:ext>
                  </a:extLst>
                </a:gridCol>
                <a:gridCol w="2614613">
                  <a:extLst>
                    <a:ext uri="{9D8B030D-6E8A-4147-A177-3AD203B41FA5}">
                      <a16:colId xmlns:a16="http://schemas.microsoft.com/office/drawing/2014/main" val="2621157303"/>
                    </a:ext>
                  </a:extLst>
                </a:gridCol>
              </a:tblGrid>
              <a:tr h="709612">
                <a:tc gridSpan="4">
                  <a:txBody>
                    <a:bodyPr/>
                    <a:lstStyle/>
                    <a:p>
                      <a:pPr algn="ctr"/>
                      <a:r>
                        <a:rPr lang="es-CO" sz="3200" dirty="0"/>
                        <a:t>Métodos de </a:t>
                      </a:r>
                      <a:r>
                        <a:rPr lang="es-CO" sz="3200" dirty="0" err="1"/>
                        <a:t>Math</a:t>
                      </a:r>
                      <a:endParaRPr lang="es-CO" sz="3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/>
                      <a:endParaRPr lang="es-CO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CO" sz="3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CO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5386114"/>
                  </a:ext>
                </a:extLst>
              </a:tr>
              <a:tr h="709612">
                <a:tc>
                  <a:txBody>
                    <a:bodyPr/>
                    <a:lstStyle/>
                    <a:p>
                      <a:pPr algn="l"/>
                      <a:r>
                        <a:rPr lang="es-CO" sz="2800" dirty="0" err="1"/>
                        <a:t>Math.round</a:t>
                      </a:r>
                      <a:r>
                        <a:rPr lang="es-CO" sz="2800" dirty="0"/>
                        <a:t>(2,95)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800" dirty="0" err="1"/>
                        <a:t>Math.round</a:t>
                      </a:r>
                      <a:r>
                        <a:rPr lang="es-CO" sz="2800" dirty="0"/>
                        <a:t>(2,92)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800" dirty="0" err="1"/>
                        <a:t>Math.ceil</a:t>
                      </a:r>
                      <a:r>
                        <a:rPr lang="es-CO" sz="2800" dirty="0"/>
                        <a:t>(2,95)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800" dirty="0" err="1"/>
                        <a:t>Math.ceil</a:t>
                      </a:r>
                      <a:r>
                        <a:rPr lang="es-CO" sz="2800" dirty="0"/>
                        <a:t>(2,91)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1040266"/>
                  </a:ext>
                </a:extLst>
              </a:tr>
              <a:tr h="709612">
                <a:tc>
                  <a:txBody>
                    <a:bodyPr/>
                    <a:lstStyle/>
                    <a:p>
                      <a:pPr algn="l"/>
                      <a:r>
                        <a:rPr lang="es-CO" sz="2800" dirty="0" err="1"/>
                        <a:t>Math.floor</a:t>
                      </a:r>
                      <a:r>
                        <a:rPr lang="es-CO" sz="2800" dirty="0"/>
                        <a:t>(2,97)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800" dirty="0" err="1"/>
                        <a:t>Math.floor</a:t>
                      </a:r>
                      <a:r>
                        <a:rPr lang="es-CO" sz="2800" dirty="0"/>
                        <a:t>(2,94)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800" dirty="0" err="1"/>
                        <a:t>Math.sin</a:t>
                      </a:r>
                      <a:r>
                        <a:rPr lang="es-CO" sz="2800" dirty="0"/>
                        <a:t>(45)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800" dirty="0" err="1"/>
                        <a:t>Math.cos</a:t>
                      </a:r>
                      <a:r>
                        <a:rPr lang="es-CO" sz="2800" dirty="0"/>
                        <a:t>(90)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1510435"/>
                  </a:ext>
                </a:extLst>
              </a:tr>
              <a:tr h="709612">
                <a:tc>
                  <a:txBody>
                    <a:bodyPr/>
                    <a:lstStyle/>
                    <a:p>
                      <a:pPr algn="l"/>
                      <a:r>
                        <a:rPr lang="es-CO" sz="2800" dirty="0" err="1"/>
                        <a:t>Math.exp</a:t>
                      </a:r>
                      <a:r>
                        <a:rPr lang="es-CO" sz="2800" dirty="0"/>
                        <a:t>(2)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800" dirty="0"/>
                        <a:t>Math.log(10)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800" dirty="0" err="1"/>
                        <a:t>Math.abs</a:t>
                      </a:r>
                      <a:r>
                        <a:rPr lang="es-CO" sz="2800" dirty="0"/>
                        <a:t>(-10)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800" dirty="0" err="1"/>
                        <a:t>Math.pow</a:t>
                      </a:r>
                      <a:r>
                        <a:rPr lang="es-CO" sz="2800" dirty="0"/>
                        <a:t>(2,7)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9289950"/>
                  </a:ext>
                </a:extLst>
              </a:tr>
              <a:tr h="709612">
                <a:tc>
                  <a:txBody>
                    <a:bodyPr/>
                    <a:lstStyle/>
                    <a:p>
                      <a:pPr algn="l"/>
                      <a:r>
                        <a:rPr lang="es-CO" sz="2800" dirty="0" err="1"/>
                        <a:t>Math.sqrt</a:t>
                      </a:r>
                      <a:r>
                        <a:rPr lang="es-CO" sz="2800" dirty="0"/>
                        <a:t>(225)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800" dirty="0" err="1"/>
                        <a:t>Math.random</a:t>
                      </a:r>
                      <a:r>
                        <a:rPr lang="es-CO" sz="2800" dirty="0"/>
                        <a:t>()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/>
                      <a:r>
                        <a:rPr lang="es-CO" sz="2800" dirty="0" err="1"/>
                        <a:t>Math.random</a:t>
                      </a:r>
                      <a:r>
                        <a:rPr lang="es-CO" sz="2800" dirty="0"/>
                        <a:t>()*10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/>
                      <a:endParaRPr lang="es-CO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3899941"/>
                  </a:ext>
                </a:extLst>
              </a:tr>
              <a:tr h="709612">
                <a:tc gridSpan="2">
                  <a:txBody>
                    <a:bodyPr/>
                    <a:lstStyle/>
                    <a:p>
                      <a:pPr algn="l"/>
                      <a:r>
                        <a:rPr lang="es-CO" sz="2800" dirty="0" err="1"/>
                        <a:t>Math.round</a:t>
                      </a:r>
                      <a:r>
                        <a:rPr lang="es-CO" sz="2800" dirty="0"/>
                        <a:t>(</a:t>
                      </a:r>
                      <a:r>
                        <a:rPr lang="es-CO" sz="2800" dirty="0" err="1"/>
                        <a:t>Math.random</a:t>
                      </a:r>
                      <a:r>
                        <a:rPr lang="es-CO" sz="2800" dirty="0"/>
                        <a:t>()*10)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/>
                      <a:endParaRPr lang="es-CO" sz="28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/>
                      <a:r>
                        <a:rPr lang="es-CO" sz="2800" dirty="0" err="1"/>
                        <a:t>Math.max</a:t>
                      </a:r>
                      <a:r>
                        <a:rPr lang="es-CO" sz="2800" dirty="0"/>
                        <a:t>(120, 35, 78, 390, 456)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/>
                      <a:endParaRPr lang="es-CO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5525955"/>
                  </a:ext>
                </a:extLst>
              </a:tr>
              <a:tr h="709612">
                <a:tc gridSpan="2">
                  <a:txBody>
                    <a:bodyPr/>
                    <a:lstStyle/>
                    <a:p>
                      <a:pPr algn="l"/>
                      <a:r>
                        <a:rPr lang="es-CO" sz="2800" dirty="0" err="1"/>
                        <a:t>Math.min</a:t>
                      </a:r>
                      <a:r>
                        <a:rPr lang="es-CO" sz="2800" dirty="0"/>
                        <a:t>(120, 35, 78, 390, 456)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/>
                      <a:endParaRPr lang="es-CO" sz="28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/>
                      <a:endParaRPr lang="es-CO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/>
                      <a:endParaRPr lang="es-CO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49916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14626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727239C1-989D-0BE1-9BA8-F5A90423A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35038"/>
          </a:xfrm>
        </p:spPr>
        <p:txBody>
          <a:bodyPr>
            <a:normAutofit/>
          </a:bodyPr>
          <a:lstStyle/>
          <a:p>
            <a:r>
              <a:rPr lang="es-CO" sz="4000" dirty="0"/>
              <a:t>JavaScript – Objeto </a:t>
            </a:r>
            <a:r>
              <a:rPr lang="es-CO" sz="4000" dirty="0" err="1"/>
              <a:t>String</a:t>
            </a:r>
            <a:endParaRPr lang="es-CO" sz="4000" dirty="0"/>
          </a:p>
        </p:txBody>
      </p:sp>
      <p:graphicFrame>
        <p:nvGraphicFramePr>
          <p:cNvPr id="5" name="Tabla 5">
            <a:extLst>
              <a:ext uri="{FF2B5EF4-FFF2-40B4-BE49-F238E27FC236}">
                <a16:creationId xmlns:a16="http://schemas.microsoft.com/office/drawing/2014/main" id="{AEFD95D8-E858-3137-DCFF-12FDBF68A3E1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666193" y="1854197"/>
          <a:ext cx="10859613" cy="35480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2976">
                  <a:extLst>
                    <a:ext uri="{9D8B030D-6E8A-4147-A177-3AD203B41FA5}">
                      <a16:colId xmlns:a16="http://schemas.microsoft.com/office/drawing/2014/main" val="1267205962"/>
                    </a:ext>
                  </a:extLst>
                </a:gridCol>
                <a:gridCol w="1329849">
                  <a:extLst>
                    <a:ext uri="{9D8B030D-6E8A-4147-A177-3AD203B41FA5}">
                      <a16:colId xmlns:a16="http://schemas.microsoft.com/office/drawing/2014/main" val="3980058038"/>
                    </a:ext>
                  </a:extLst>
                </a:gridCol>
                <a:gridCol w="2561670">
                  <a:extLst>
                    <a:ext uri="{9D8B030D-6E8A-4147-A177-3AD203B41FA5}">
                      <a16:colId xmlns:a16="http://schemas.microsoft.com/office/drawing/2014/main" val="3649605192"/>
                    </a:ext>
                  </a:extLst>
                </a:gridCol>
                <a:gridCol w="3354125">
                  <a:extLst>
                    <a:ext uri="{9D8B030D-6E8A-4147-A177-3AD203B41FA5}">
                      <a16:colId xmlns:a16="http://schemas.microsoft.com/office/drawing/2014/main" val="1610240457"/>
                    </a:ext>
                  </a:extLst>
                </a:gridCol>
                <a:gridCol w="2670993">
                  <a:extLst>
                    <a:ext uri="{9D8B030D-6E8A-4147-A177-3AD203B41FA5}">
                      <a16:colId xmlns:a16="http://schemas.microsoft.com/office/drawing/2014/main" val="2621157303"/>
                    </a:ext>
                  </a:extLst>
                </a:gridCol>
              </a:tblGrid>
              <a:tr h="709612">
                <a:tc gridSpan="5">
                  <a:txBody>
                    <a:bodyPr/>
                    <a:lstStyle/>
                    <a:p>
                      <a:pPr algn="ctr"/>
                      <a:r>
                        <a:rPr lang="es-CO" sz="3200" dirty="0"/>
                        <a:t>Métodos de </a:t>
                      </a:r>
                      <a:r>
                        <a:rPr lang="es-CO" sz="3200" dirty="0" err="1"/>
                        <a:t>String</a:t>
                      </a:r>
                      <a:endParaRPr lang="es-CO" sz="3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/>
                      <a:endParaRPr lang="es-CO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CO" sz="3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CO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5386114"/>
                  </a:ext>
                </a:extLst>
              </a:tr>
              <a:tr h="709612">
                <a:tc gridSpan="2">
                  <a:txBody>
                    <a:bodyPr/>
                    <a:lstStyle/>
                    <a:p>
                      <a:pPr algn="l"/>
                      <a:r>
                        <a:rPr lang="en-US" sz="2800" dirty="0"/>
                        <a:t>length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/>
                        <a:t>toUpperCase</a:t>
                      </a:r>
                      <a:endParaRPr lang="es-CO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/>
                        <a:t>toLowerCase</a:t>
                      </a:r>
                      <a:endParaRPr lang="es-CO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/>
                        <a:t>concat</a:t>
                      </a:r>
                      <a:endParaRPr lang="es-CO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1510435"/>
                  </a:ext>
                </a:extLst>
              </a:tr>
              <a:tr h="709612">
                <a:tc>
                  <a:txBody>
                    <a:bodyPr/>
                    <a:lstStyle/>
                    <a:p>
                      <a:pPr algn="l"/>
                      <a:r>
                        <a:rPr lang="en-US" sz="2800" dirty="0"/>
                        <a:t>at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/>
                        <a:t>trim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800" dirty="0" err="1"/>
                        <a:t>charAt</a:t>
                      </a:r>
                      <a:endParaRPr lang="es-CO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800" dirty="0" err="1"/>
                        <a:t>includes</a:t>
                      </a:r>
                      <a:endParaRPr lang="es-CO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2800" dirty="0" err="1"/>
                        <a:t>split</a:t>
                      </a:r>
                      <a:endParaRPr lang="es-CO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966616"/>
                  </a:ext>
                </a:extLst>
              </a:tr>
              <a:tr h="709612">
                <a:tc gridSpan="3">
                  <a:txBody>
                    <a:bodyPr/>
                    <a:lstStyle/>
                    <a:p>
                      <a:pPr algn="l"/>
                      <a:r>
                        <a:rPr lang="es-CO" sz="2800" dirty="0" err="1"/>
                        <a:t>replace</a:t>
                      </a:r>
                      <a:r>
                        <a:rPr lang="es-CO" sz="2800" dirty="0"/>
                        <a:t>(cadena, nueva cadena)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/>
                      <a:endParaRPr lang="es-CO" sz="28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/>
                      <a:r>
                        <a:rPr lang="es-MX" sz="2800" dirty="0" err="1"/>
                        <a:t>slice</a:t>
                      </a:r>
                      <a:r>
                        <a:rPr lang="es-MX" sz="2800" dirty="0"/>
                        <a:t>(posición inicial, posición final)</a:t>
                      </a:r>
                      <a:endParaRPr lang="es-CO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/>
                      <a:endParaRPr lang="es-CO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3899941"/>
                  </a:ext>
                </a:extLst>
              </a:tr>
              <a:tr h="709612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2800" dirty="0" err="1"/>
                        <a:t>substr</a:t>
                      </a:r>
                      <a:r>
                        <a:rPr lang="es-MX" sz="2800" dirty="0"/>
                        <a:t>(posición inicial, cantidad)</a:t>
                      </a:r>
                      <a:endParaRPr lang="es-CO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/>
                      <a:endParaRPr lang="es-CO" sz="28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2800" dirty="0" err="1"/>
                        <a:t>substring</a:t>
                      </a:r>
                      <a:r>
                        <a:rPr lang="es-MX" sz="2800" dirty="0"/>
                        <a:t>(posición inicial, posición final)</a:t>
                      </a:r>
                      <a:endParaRPr lang="es-CO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/>
                      <a:endParaRPr lang="es-CO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55259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49258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C573CF-A2F6-FE8D-B1FD-20BF225FB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1587"/>
            <a:ext cx="10515600" cy="4979195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MX" sz="3000" dirty="0">
                <a:solidFill>
                  <a:srgbClr val="333333"/>
                </a:solidFill>
              </a:rPr>
              <a:t>C</a:t>
            </a:r>
            <a:r>
              <a:rPr lang="es-MX" sz="3000" i="0" dirty="0">
                <a:solidFill>
                  <a:srgbClr val="333333"/>
                </a:solidFill>
                <a:effectLst/>
              </a:rPr>
              <a:t>olección o agrupación de elementos en una misma variable, cada uno de ellos ubicado por la posición que ocupa en el array. Los </a:t>
            </a:r>
            <a:r>
              <a:rPr lang="es-MX" sz="3000" i="0" dirty="0" err="1">
                <a:solidFill>
                  <a:srgbClr val="333333"/>
                </a:solidFill>
                <a:effectLst/>
              </a:rPr>
              <a:t>arrays</a:t>
            </a:r>
            <a:r>
              <a:rPr lang="es-MX" sz="3000" i="0" dirty="0">
                <a:solidFill>
                  <a:srgbClr val="333333"/>
                </a:solidFill>
                <a:effectLst/>
              </a:rPr>
              <a:t> son estructuras utilizadas para almacenar y organizar datos. Su finalidad es ser un espacio fijo en la memoria del computador que almacena elementos. Se puede acceder a estos elementos mediante un tipo de indicación, que llamamos </a:t>
            </a:r>
            <a:r>
              <a:rPr lang="es-MX" sz="3000" b="1" i="0" dirty="0">
                <a:solidFill>
                  <a:srgbClr val="333333"/>
                </a:solidFill>
                <a:effectLst/>
              </a:rPr>
              <a:t>índice</a:t>
            </a:r>
            <a:r>
              <a:rPr lang="es-MX" sz="3000" i="0" dirty="0">
                <a:solidFill>
                  <a:srgbClr val="333333"/>
                </a:solidFill>
                <a:effectLst/>
              </a:rPr>
              <a:t>.</a:t>
            </a:r>
          </a:p>
          <a:p>
            <a:pPr marL="0" indent="0" algn="just">
              <a:buNone/>
            </a:pPr>
            <a:r>
              <a:rPr lang="es-MX" sz="3000" b="1" dirty="0">
                <a:solidFill>
                  <a:srgbClr val="333333"/>
                </a:solidFill>
              </a:rPr>
              <a:t>Características</a:t>
            </a:r>
          </a:p>
          <a:p>
            <a:pPr algn="just"/>
            <a:r>
              <a:rPr lang="es-CO" sz="3000" dirty="0"/>
              <a:t>Contienen índices numéricos</a:t>
            </a:r>
          </a:p>
          <a:p>
            <a:pPr algn="just"/>
            <a:r>
              <a:rPr lang="es-CO" sz="3000" dirty="0"/>
              <a:t>Longitud dinámica</a:t>
            </a:r>
          </a:p>
          <a:p>
            <a:pPr algn="just"/>
            <a:r>
              <a:rPr lang="es-CO" sz="3000" dirty="0"/>
              <a:t>Tienen Heterogeneidad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727239C1-989D-0BE1-9BA8-F5A90423A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576"/>
            <a:ext cx="10515600" cy="885825"/>
          </a:xfrm>
        </p:spPr>
        <p:txBody>
          <a:bodyPr>
            <a:normAutofit/>
          </a:bodyPr>
          <a:lstStyle/>
          <a:p>
            <a:r>
              <a:rPr lang="es-CO" sz="4800" dirty="0"/>
              <a:t>JavaScript</a:t>
            </a:r>
            <a:r>
              <a:rPr lang="es-CO" sz="4000" dirty="0"/>
              <a:t> - </a:t>
            </a:r>
            <a:r>
              <a:rPr lang="es-CO" sz="4000" dirty="0" err="1"/>
              <a:t>Arrays</a:t>
            </a:r>
            <a:endParaRPr lang="es-CO" sz="4000" dirty="0"/>
          </a:p>
        </p:txBody>
      </p:sp>
    </p:spTree>
    <p:extLst>
      <p:ext uri="{BB962C8B-B14F-4D97-AF65-F5344CB8AC3E}">
        <p14:creationId xmlns:p14="http://schemas.microsoft.com/office/powerpoint/2010/main" val="14399833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C573CF-A2F6-FE8D-B1FD-20BF225FB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168" y="1350163"/>
            <a:ext cx="11015663" cy="442198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MX" sz="3200" dirty="0"/>
              <a:t>Hay dos maneras para crear un array vacío:</a:t>
            </a:r>
          </a:p>
          <a:p>
            <a:pPr marL="0" indent="0" algn="just">
              <a:buNone/>
            </a:pPr>
            <a:endParaRPr lang="es-MX" sz="3200" dirty="0"/>
          </a:p>
          <a:p>
            <a:pPr marL="0" indent="0" algn="just">
              <a:buNone/>
            </a:pPr>
            <a:endParaRPr lang="es-MX" sz="3200" dirty="0"/>
          </a:p>
          <a:p>
            <a:pPr marL="0" indent="0" algn="just">
              <a:buNone/>
            </a:pPr>
            <a:r>
              <a:rPr lang="es-CO" sz="3200" dirty="0" err="1"/>
              <a:t>let</a:t>
            </a:r>
            <a:r>
              <a:rPr lang="es-CO" sz="3200" dirty="0"/>
              <a:t> color = new Array(5);</a:t>
            </a:r>
          </a:p>
          <a:p>
            <a:pPr marL="0" indent="0" algn="just">
              <a:buNone/>
            </a:pPr>
            <a:r>
              <a:rPr lang="es-MX" sz="3200" dirty="0"/>
              <a:t>Se puede suministrar elementos iniciales entre los corchetes:</a:t>
            </a:r>
          </a:p>
          <a:p>
            <a:pPr marL="0" indent="0" algn="just">
              <a:buNone/>
            </a:pPr>
            <a:r>
              <a:rPr lang="es-CO" sz="3200" dirty="0" err="1"/>
              <a:t>let</a:t>
            </a:r>
            <a:r>
              <a:rPr lang="es-CO" sz="3200" dirty="0"/>
              <a:t> letras = ["a", "b", "c"]; // Array con 3 elementos</a:t>
            </a:r>
          </a:p>
          <a:p>
            <a:pPr marL="0" indent="0" algn="just">
              <a:buNone/>
            </a:pPr>
            <a:r>
              <a:rPr lang="es-CO" sz="3200" dirty="0" err="1"/>
              <a:t>let</a:t>
            </a:r>
            <a:r>
              <a:rPr lang="es-CO" sz="3200" dirty="0"/>
              <a:t> frutas = []; // Array vacío (0 elementos)</a:t>
            </a:r>
          </a:p>
          <a:p>
            <a:pPr marL="0" indent="0" algn="just">
              <a:buNone/>
            </a:pPr>
            <a:r>
              <a:rPr lang="es-CO" sz="3200" dirty="0" err="1"/>
              <a:t>let</a:t>
            </a:r>
            <a:r>
              <a:rPr lang="es-CO" sz="3200" dirty="0"/>
              <a:t> mixto = ["a", 5, true]; // Array mixto (</a:t>
            </a:r>
            <a:r>
              <a:rPr lang="es-CO" sz="3200" dirty="0" err="1"/>
              <a:t>string</a:t>
            </a:r>
            <a:r>
              <a:rPr lang="es-CO" sz="3200" dirty="0"/>
              <a:t>, </a:t>
            </a:r>
            <a:r>
              <a:rPr lang="es-CO" sz="3200" dirty="0" err="1"/>
              <a:t>number</a:t>
            </a:r>
            <a:r>
              <a:rPr lang="es-CO" sz="3200" dirty="0"/>
              <a:t>, </a:t>
            </a:r>
            <a:r>
              <a:rPr lang="es-CO" sz="3200" dirty="0" err="1"/>
              <a:t>boolean</a:t>
            </a:r>
            <a:r>
              <a:rPr lang="es-CO" sz="3200" dirty="0"/>
              <a:t>)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727239C1-989D-0BE1-9BA8-F5A90423A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576"/>
            <a:ext cx="10515600" cy="885825"/>
          </a:xfrm>
        </p:spPr>
        <p:txBody>
          <a:bodyPr>
            <a:normAutofit/>
          </a:bodyPr>
          <a:lstStyle/>
          <a:p>
            <a:r>
              <a:rPr lang="es-CO" sz="4800" dirty="0"/>
              <a:t>JavaScript</a:t>
            </a:r>
            <a:r>
              <a:rPr lang="es-CO" sz="4000" dirty="0"/>
              <a:t> – Declaración de </a:t>
            </a:r>
            <a:r>
              <a:rPr lang="es-CO" sz="4000" dirty="0" err="1"/>
              <a:t>Arrays</a:t>
            </a:r>
            <a:endParaRPr lang="es-CO" sz="4000" dirty="0"/>
          </a:p>
        </p:txBody>
      </p:sp>
      <p:graphicFrame>
        <p:nvGraphicFramePr>
          <p:cNvPr id="2" name="Tabla 4">
            <a:extLst>
              <a:ext uri="{FF2B5EF4-FFF2-40B4-BE49-F238E27FC236}">
                <a16:creationId xmlns:a16="http://schemas.microsoft.com/office/drawing/2014/main" id="{E323C309-8ACE-CED8-B012-1BAD67FADB18}"/>
              </a:ext>
            </a:extLst>
          </p:cNvPr>
          <p:cNvGraphicFramePr>
            <a:graphicFrameLocks noGrp="1"/>
          </p:cNvGraphicFramePr>
          <p:nvPr/>
        </p:nvGraphicFramePr>
        <p:xfrm>
          <a:off x="1851818" y="1919816"/>
          <a:ext cx="8488362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44181">
                  <a:extLst>
                    <a:ext uri="{9D8B030D-6E8A-4147-A177-3AD203B41FA5}">
                      <a16:colId xmlns:a16="http://schemas.microsoft.com/office/drawing/2014/main" val="284363830"/>
                    </a:ext>
                  </a:extLst>
                </a:gridCol>
                <a:gridCol w="4244181">
                  <a:extLst>
                    <a:ext uri="{9D8B030D-6E8A-4147-A177-3AD203B41FA5}">
                      <a16:colId xmlns:a16="http://schemas.microsoft.com/office/drawing/2014/main" val="529305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sz="3000" b="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let</a:t>
                      </a:r>
                      <a:r>
                        <a:rPr lang="es-MX" sz="30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 </a:t>
                      </a:r>
                      <a:r>
                        <a:rPr lang="es-MX" sz="3000" b="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arr</a:t>
                      </a:r>
                      <a:r>
                        <a:rPr lang="es-MX" sz="30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 = new Array(</a:t>
                      </a:r>
                      <a:r>
                        <a:rPr lang="es-MX" sz="3000" b="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num</a:t>
                      </a:r>
                      <a:r>
                        <a:rPr lang="es-MX" sz="30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);</a:t>
                      </a:r>
                      <a:endParaRPr lang="es-CO" sz="30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3000" b="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let</a:t>
                      </a:r>
                      <a:r>
                        <a:rPr lang="es-CO" sz="30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 </a:t>
                      </a:r>
                      <a:r>
                        <a:rPr lang="es-CO" sz="3000" b="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arr</a:t>
                      </a:r>
                      <a:r>
                        <a:rPr lang="es-CO" sz="30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 = [];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34954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75096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C573CF-A2F6-FE8D-B1FD-20BF225FB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464" y="1350163"/>
            <a:ext cx="11687173" cy="442198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MX" sz="3200" dirty="0" err="1"/>
              <a:t>let</a:t>
            </a:r>
            <a:r>
              <a:rPr lang="es-MX" sz="3200" dirty="0"/>
              <a:t> frutas  = [‘Mora’, Uva’, 'Piña’, 'Fresa', ‘Pera'];</a:t>
            </a:r>
          </a:p>
          <a:p>
            <a:pPr marL="0" indent="0" algn="just">
              <a:buNone/>
            </a:pPr>
            <a:endParaRPr lang="es-MX" sz="3200" dirty="0"/>
          </a:p>
          <a:p>
            <a:pPr marL="0" indent="0" algn="just">
              <a:buNone/>
            </a:pPr>
            <a:endParaRPr lang="es-MX" sz="3200" dirty="0"/>
          </a:p>
          <a:p>
            <a:pPr marL="0" indent="0" algn="just">
              <a:buNone/>
            </a:pPr>
            <a:endParaRPr lang="es-MX" sz="3200" dirty="0"/>
          </a:p>
          <a:p>
            <a:pPr marL="0" indent="0" algn="just">
              <a:buNone/>
            </a:pPr>
            <a:endParaRPr lang="es-MX" sz="3200" dirty="0"/>
          </a:p>
          <a:p>
            <a:pPr marL="0" indent="0" algn="just">
              <a:buNone/>
            </a:pPr>
            <a:endParaRPr lang="es-MX" sz="320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727239C1-989D-0BE1-9BA8-F5A90423A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576"/>
            <a:ext cx="10515600" cy="885825"/>
          </a:xfrm>
        </p:spPr>
        <p:txBody>
          <a:bodyPr>
            <a:normAutofit/>
          </a:bodyPr>
          <a:lstStyle/>
          <a:p>
            <a:r>
              <a:rPr lang="es-CO" sz="4800" dirty="0"/>
              <a:t>JavaScript</a:t>
            </a:r>
            <a:r>
              <a:rPr lang="es-CO" sz="4000" dirty="0"/>
              <a:t> – Trabajar con elementos de </a:t>
            </a:r>
            <a:r>
              <a:rPr lang="es-CO" sz="4000" dirty="0" err="1"/>
              <a:t>Arrays</a:t>
            </a:r>
            <a:endParaRPr lang="es-CO" sz="4000" dirty="0"/>
          </a:p>
        </p:txBody>
      </p:sp>
      <p:graphicFrame>
        <p:nvGraphicFramePr>
          <p:cNvPr id="5" name="Tabla 5">
            <a:extLst>
              <a:ext uri="{FF2B5EF4-FFF2-40B4-BE49-F238E27FC236}">
                <a16:creationId xmlns:a16="http://schemas.microsoft.com/office/drawing/2014/main" id="{D74DA863-C738-AE60-5ABB-A46F02CB783B}"/>
              </a:ext>
            </a:extLst>
          </p:cNvPr>
          <p:cNvGraphicFramePr>
            <a:graphicFrameLocks noGrp="1"/>
          </p:cNvGraphicFramePr>
          <p:nvPr/>
        </p:nvGraphicFramePr>
        <p:xfrm>
          <a:off x="271464" y="2063510"/>
          <a:ext cx="11687173" cy="2590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419344">
                  <a:extLst>
                    <a:ext uri="{9D8B030D-6E8A-4147-A177-3AD203B41FA5}">
                      <a16:colId xmlns:a16="http://schemas.microsoft.com/office/drawing/2014/main" val="3026771281"/>
                    </a:ext>
                  </a:extLst>
                </a:gridCol>
                <a:gridCol w="3747518">
                  <a:extLst>
                    <a:ext uri="{9D8B030D-6E8A-4147-A177-3AD203B41FA5}">
                      <a16:colId xmlns:a16="http://schemas.microsoft.com/office/drawing/2014/main" val="2044007980"/>
                    </a:ext>
                  </a:extLst>
                </a:gridCol>
                <a:gridCol w="4520311">
                  <a:extLst>
                    <a:ext uri="{9D8B030D-6E8A-4147-A177-3AD203B41FA5}">
                      <a16:colId xmlns:a16="http://schemas.microsoft.com/office/drawing/2014/main" val="30066161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sz="2800" dirty="0" err="1"/>
                        <a:t>frutas.length</a:t>
                      </a:r>
                      <a:r>
                        <a:rPr lang="es-MX" sz="2800" dirty="0"/>
                        <a:t>;   // 5</a:t>
                      </a:r>
                      <a:endParaRPr lang="es-CO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2800" dirty="0"/>
                        <a:t>frutas[1];       // ‘Uva'</a:t>
                      </a:r>
                      <a:endParaRPr lang="es-CO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2800" dirty="0"/>
                        <a:t>frutas[7];       // </a:t>
                      </a:r>
                      <a:r>
                        <a:rPr lang="es-MX" sz="2800" dirty="0" err="1"/>
                        <a:t>undefined</a:t>
                      </a:r>
                      <a:endParaRPr lang="es-CO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9671608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r>
                        <a:rPr lang="es-CO" sz="2800" dirty="0"/>
                        <a:t>frutas[3] = ‘</a:t>
                      </a:r>
                      <a:r>
                        <a:rPr lang="es-CO" sz="2800" dirty="0" err="1"/>
                        <a:t>Limon</a:t>
                      </a:r>
                      <a:r>
                        <a:rPr lang="es-CO" sz="2800" dirty="0"/>
                        <a:t>’ // Ahora </a:t>
                      </a:r>
                      <a:r>
                        <a:rPr lang="es-MX" sz="2800" dirty="0"/>
                        <a:t>[‘Mora’, Uva’, 'Piña’, ‘</a:t>
                      </a:r>
                      <a:r>
                        <a:rPr lang="es-MX" sz="2800" dirty="0" err="1"/>
                        <a:t>Limon</a:t>
                      </a:r>
                      <a:r>
                        <a:rPr lang="es-MX" sz="2800" dirty="0"/>
                        <a:t>', ‘Pera']</a:t>
                      </a:r>
                      <a:r>
                        <a:rPr lang="es-CO" sz="2800" dirty="0"/>
                        <a:t>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2614659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r>
                        <a:rPr lang="es-CO" sz="2800" dirty="0"/>
                        <a:t>frutas[5] = ‘Kiwi’ // Ahora </a:t>
                      </a:r>
                      <a:r>
                        <a:rPr lang="es-MX" sz="2800" dirty="0"/>
                        <a:t>[‘Mora’, Uva’, 'Piña’, ‘</a:t>
                      </a:r>
                      <a:r>
                        <a:rPr lang="es-MX" sz="2800" dirty="0" err="1"/>
                        <a:t>Limon</a:t>
                      </a:r>
                      <a:r>
                        <a:rPr lang="es-MX" sz="2800" dirty="0"/>
                        <a:t>', ‘Pera’, ‘Kiwi’]</a:t>
                      </a:r>
                      <a:r>
                        <a:rPr lang="es-CO" sz="2800" dirty="0"/>
                        <a:t>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 sz="28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9341650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r>
                        <a:rPr lang="es-CO" sz="2800" dirty="0" err="1"/>
                        <a:t>let</a:t>
                      </a:r>
                      <a:r>
                        <a:rPr lang="es-CO" sz="2800" dirty="0"/>
                        <a:t> </a:t>
                      </a:r>
                      <a:r>
                        <a:rPr lang="es-CO" sz="2800" dirty="0" err="1"/>
                        <a:t>masFrutas</a:t>
                      </a:r>
                      <a:r>
                        <a:rPr lang="es-CO" sz="2800" dirty="0"/>
                        <a:t> = </a:t>
                      </a:r>
                      <a:r>
                        <a:rPr lang="es-CO" sz="2800" dirty="0" err="1"/>
                        <a:t>frutas.with</a:t>
                      </a:r>
                      <a:r>
                        <a:rPr lang="es-CO" sz="2800" dirty="0"/>
                        <a:t>(3, 'Lima’) // </a:t>
                      </a:r>
                      <a:r>
                        <a:rPr lang="es-MX" sz="2800" dirty="0"/>
                        <a:t>[‘Mora’, Uva’, ‘Piña‘, ‘Lima', ‘Pera’, ’Kiwi’]</a:t>
                      </a:r>
                      <a:r>
                        <a:rPr lang="es-CO" sz="2800" dirty="0"/>
                        <a:t>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 sz="2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0535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2800" dirty="0"/>
                        <a:t>frutas.at(0);  // ‘Mora’</a:t>
                      </a:r>
                      <a:endParaRPr lang="es-CO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2800" dirty="0"/>
                        <a:t>frutas.at(3);    // ‘</a:t>
                      </a:r>
                      <a:r>
                        <a:rPr lang="es-MX" sz="2800" dirty="0" err="1"/>
                        <a:t>Limon</a:t>
                      </a:r>
                      <a:r>
                        <a:rPr lang="es-MX" sz="2800" dirty="0"/>
                        <a:t>'</a:t>
                      </a:r>
                      <a:endParaRPr lang="es-CO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2800" dirty="0"/>
                        <a:t>frutas.at(-1);       // ‘Kiwi’</a:t>
                      </a:r>
                      <a:endParaRPr lang="es-CO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27352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86950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C573CF-A2F6-FE8D-B1FD-20BF225FB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464" y="1350163"/>
            <a:ext cx="11687173" cy="442198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MX" sz="3200" dirty="0" err="1"/>
              <a:t>let</a:t>
            </a:r>
            <a:r>
              <a:rPr lang="es-MX" sz="3200" dirty="0"/>
              <a:t> letras  = [‘A’, ‘B’, ‘C’, ‘D’, ‘E'];</a:t>
            </a:r>
          </a:p>
          <a:p>
            <a:pPr marL="0" indent="0" algn="just">
              <a:buNone/>
            </a:pPr>
            <a:endParaRPr lang="es-MX" sz="3200" dirty="0"/>
          </a:p>
          <a:p>
            <a:pPr marL="0" indent="0" algn="just">
              <a:buNone/>
            </a:pPr>
            <a:endParaRPr lang="es-MX" sz="3200" dirty="0"/>
          </a:p>
          <a:p>
            <a:pPr marL="0" indent="0" algn="just">
              <a:buNone/>
            </a:pPr>
            <a:endParaRPr lang="es-MX" sz="3200" dirty="0"/>
          </a:p>
          <a:p>
            <a:pPr marL="0" indent="0" algn="just">
              <a:buNone/>
            </a:pPr>
            <a:endParaRPr lang="es-MX" sz="3200" dirty="0"/>
          </a:p>
          <a:p>
            <a:pPr marL="0" indent="0" algn="just">
              <a:buNone/>
            </a:pPr>
            <a:endParaRPr lang="es-MX" sz="320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727239C1-989D-0BE1-9BA8-F5A90423A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576"/>
            <a:ext cx="10612772" cy="885825"/>
          </a:xfrm>
        </p:spPr>
        <p:txBody>
          <a:bodyPr>
            <a:normAutofit fontScale="90000"/>
          </a:bodyPr>
          <a:lstStyle/>
          <a:p>
            <a:r>
              <a:rPr lang="es-CO" sz="4800" dirty="0"/>
              <a:t>JavaScript</a:t>
            </a:r>
            <a:r>
              <a:rPr lang="es-CO" sz="4000" dirty="0"/>
              <a:t> – Métodos pop/</a:t>
            </a:r>
            <a:r>
              <a:rPr lang="es-CO" sz="4000" dirty="0" err="1"/>
              <a:t>push</a:t>
            </a:r>
            <a:r>
              <a:rPr lang="es-CO" sz="4000" dirty="0"/>
              <a:t>, shift/</a:t>
            </a:r>
            <a:r>
              <a:rPr lang="es-CO" sz="4000" dirty="0" err="1"/>
              <a:t>unshift</a:t>
            </a:r>
            <a:r>
              <a:rPr lang="es-CO" sz="4000" dirty="0"/>
              <a:t> en </a:t>
            </a:r>
            <a:r>
              <a:rPr lang="es-CO" sz="4000" dirty="0" err="1"/>
              <a:t>Arrays</a:t>
            </a:r>
            <a:endParaRPr lang="es-CO" sz="4000" dirty="0"/>
          </a:p>
        </p:txBody>
      </p:sp>
      <p:graphicFrame>
        <p:nvGraphicFramePr>
          <p:cNvPr id="5" name="Tabla 5">
            <a:extLst>
              <a:ext uri="{FF2B5EF4-FFF2-40B4-BE49-F238E27FC236}">
                <a16:creationId xmlns:a16="http://schemas.microsoft.com/office/drawing/2014/main" id="{D74DA863-C738-AE60-5ABB-A46F02CB783B}"/>
              </a:ext>
            </a:extLst>
          </p:cNvPr>
          <p:cNvGraphicFramePr>
            <a:graphicFrameLocks noGrp="1"/>
          </p:cNvGraphicFramePr>
          <p:nvPr/>
        </p:nvGraphicFramePr>
        <p:xfrm>
          <a:off x="271464" y="2407459"/>
          <a:ext cx="11687173" cy="31089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687173">
                  <a:extLst>
                    <a:ext uri="{9D8B030D-6E8A-4147-A177-3AD203B41FA5}">
                      <a16:colId xmlns:a16="http://schemas.microsoft.com/office/drawing/2014/main" val="30267712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CO" sz="2800" dirty="0" err="1"/>
                        <a:t>letras.pop</a:t>
                      </a:r>
                      <a:r>
                        <a:rPr lang="es-CO" sz="2800" dirty="0"/>
                        <a:t>();             // Ahora </a:t>
                      </a:r>
                      <a:r>
                        <a:rPr lang="es-MX" sz="2800" dirty="0"/>
                        <a:t>letras  = [‘A’, ‘B’, ‘C’, ‘D’]</a:t>
                      </a:r>
                      <a:endParaRPr lang="es-CO" sz="2000" i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5981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2800" dirty="0" err="1"/>
                        <a:t>letras.push</a:t>
                      </a:r>
                      <a:r>
                        <a:rPr lang="es-MX" sz="2800" dirty="0"/>
                        <a:t>(“F”);     // Ahora letras  = [‘A’, ‘B’, ‘C’, ‘D’, ‘F’]                 </a:t>
                      </a:r>
                      <a:r>
                        <a:rPr lang="es-MX" sz="2000" i="1" dirty="0">
                          <a:solidFill>
                            <a:srgbClr val="FF0000"/>
                          </a:solidFill>
                        </a:rPr>
                        <a:t>uno o más </a:t>
                      </a:r>
                      <a:r>
                        <a:rPr lang="es-CO" sz="2000" i="1" dirty="0">
                          <a:solidFill>
                            <a:srgbClr val="FF0000"/>
                          </a:solidFill>
                        </a:rPr>
                        <a:t>elementos</a:t>
                      </a:r>
                      <a:endParaRPr lang="es-CO" sz="20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9671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2800" dirty="0" err="1"/>
                        <a:t>letras.shift</a:t>
                      </a:r>
                      <a:r>
                        <a:rPr lang="es-CO" sz="2800" dirty="0"/>
                        <a:t>();           // Ahora </a:t>
                      </a:r>
                      <a:r>
                        <a:rPr lang="es-MX" sz="2800" dirty="0"/>
                        <a:t>letras  = [ ‘B’, ‘C’, ‘D’, ‘F']</a:t>
                      </a:r>
                      <a:r>
                        <a:rPr lang="es-CO" sz="2800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26146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2800" dirty="0" err="1"/>
                        <a:t>letras.unshift</a:t>
                      </a:r>
                      <a:r>
                        <a:rPr lang="es-CO" sz="2800" dirty="0"/>
                        <a:t>(“G”) // Ahora l</a:t>
                      </a:r>
                      <a:r>
                        <a:rPr lang="es-MX" sz="2800" dirty="0" err="1"/>
                        <a:t>etras</a:t>
                      </a:r>
                      <a:r>
                        <a:rPr lang="es-MX" sz="2800" dirty="0"/>
                        <a:t>  = [‘G’, ‘B’, ‘C’, ‘D’, ‘F’]                 </a:t>
                      </a:r>
                      <a:r>
                        <a:rPr lang="es-MX" sz="2000" i="1" dirty="0">
                          <a:solidFill>
                            <a:srgbClr val="FF0000"/>
                          </a:solidFill>
                        </a:rPr>
                        <a:t>uno o más</a:t>
                      </a:r>
                      <a:r>
                        <a:rPr lang="es-CO" sz="2000" i="1" dirty="0">
                          <a:solidFill>
                            <a:srgbClr val="FF0000"/>
                          </a:solidFill>
                        </a:rPr>
                        <a:t> elementos</a:t>
                      </a:r>
                      <a:endParaRPr lang="es-CO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93416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2800" dirty="0" err="1"/>
                        <a:t>letras.sort</a:t>
                      </a:r>
                      <a:r>
                        <a:rPr lang="es-CO" sz="2800" dirty="0"/>
                        <a:t>()             // Ahora l</a:t>
                      </a:r>
                      <a:r>
                        <a:rPr lang="es-MX" sz="2800" dirty="0" err="1"/>
                        <a:t>etras</a:t>
                      </a:r>
                      <a:r>
                        <a:rPr lang="es-MX" sz="2800" dirty="0"/>
                        <a:t>  = [‘B’, ‘C’, ‘D’, ‘F’, ‘G’]</a:t>
                      </a:r>
                      <a:endParaRPr lang="es-CO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0535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2800" dirty="0" err="1"/>
                        <a:t>letras.reverse</a:t>
                      </a:r>
                      <a:r>
                        <a:rPr lang="es-CO" sz="2800" dirty="0"/>
                        <a:t>()       // Ahora l</a:t>
                      </a:r>
                      <a:r>
                        <a:rPr lang="es-MX" sz="2800" dirty="0" err="1"/>
                        <a:t>etras</a:t>
                      </a:r>
                      <a:r>
                        <a:rPr lang="es-MX" sz="2800" dirty="0"/>
                        <a:t>  = [‘G’, ‘F’, ‘D’, ‘C’, ‘B’]</a:t>
                      </a:r>
                      <a:endParaRPr lang="es-CO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27352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29726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C573CF-A2F6-FE8D-B1FD-20BF225FB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5276" y="1404971"/>
            <a:ext cx="9261447" cy="442198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MX" sz="3200" dirty="0" err="1"/>
              <a:t>let</a:t>
            </a:r>
            <a:r>
              <a:rPr lang="es-MX" sz="3200" dirty="0"/>
              <a:t> </a:t>
            </a:r>
            <a:r>
              <a:rPr lang="es-MX" sz="3200" dirty="0" err="1"/>
              <a:t>numeros</a:t>
            </a:r>
            <a:r>
              <a:rPr lang="es-MX" sz="3200" dirty="0"/>
              <a:t>  = [10, 15, 42, 35, 13, 85, 22];</a:t>
            </a:r>
          </a:p>
          <a:p>
            <a:pPr marL="0" indent="0" algn="just">
              <a:buNone/>
            </a:pPr>
            <a:endParaRPr lang="es-MX" sz="3200" dirty="0"/>
          </a:p>
          <a:p>
            <a:pPr marL="0" indent="0" algn="just">
              <a:buNone/>
            </a:pPr>
            <a:endParaRPr lang="es-MX" sz="3200" dirty="0"/>
          </a:p>
          <a:p>
            <a:pPr marL="0" indent="0" algn="just">
              <a:buNone/>
            </a:pPr>
            <a:endParaRPr lang="es-MX" sz="3200" dirty="0"/>
          </a:p>
          <a:p>
            <a:pPr marL="0" indent="0" algn="just">
              <a:buNone/>
            </a:pPr>
            <a:endParaRPr lang="es-MX" sz="3200" dirty="0"/>
          </a:p>
          <a:p>
            <a:pPr marL="0" indent="0" algn="just">
              <a:buNone/>
            </a:pPr>
            <a:endParaRPr lang="es-MX" sz="320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727239C1-989D-0BE1-9BA8-F5A90423A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576"/>
            <a:ext cx="10612772" cy="885825"/>
          </a:xfrm>
        </p:spPr>
        <p:txBody>
          <a:bodyPr>
            <a:normAutofit/>
          </a:bodyPr>
          <a:lstStyle/>
          <a:p>
            <a:r>
              <a:rPr lang="es-CO" sz="4800" dirty="0"/>
              <a:t>JavaScript</a:t>
            </a:r>
            <a:r>
              <a:rPr lang="es-CO" sz="4000" dirty="0"/>
              <a:t> – Bucles en </a:t>
            </a:r>
            <a:r>
              <a:rPr lang="es-CO" sz="4000" dirty="0" err="1"/>
              <a:t>Arrays</a:t>
            </a:r>
            <a:endParaRPr lang="es-CO" sz="4000" dirty="0"/>
          </a:p>
        </p:txBody>
      </p:sp>
      <p:graphicFrame>
        <p:nvGraphicFramePr>
          <p:cNvPr id="5" name="Tabla 5">
            <a:extLst>
              <a:ext uri="{FF2B5EF4-FFF2-40B4-BE49-F238E27FC236}">
                <a16:creationId xmlns:a16="http://schemas.microsoft.com/office/drawing/2014/main" id="{D74DA863-C738-AE60-5ABB-A46F02CB78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5920666"/>
              </p:ext>
            </p:extLst>
          </p:nvPr>
        </p:nvGraphicFramePr>
        <p:xfrm>
          <a:off x="1269242" y="2291279"/>
          <a:ext cx="9692372" cy="38404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221039">
                  <a:extLst>
                    <a:ext uri="{9D8B030D-6E8A-4147-A177-3AD203B41FA5}">
                      <a16:colId xmlns:a16="http://schemas.microsoft.com/office/drawing/2014/main" val="3026771281"/>
                    </a:ext>
                  </a:extLst>
                </a:gridCol>
                <a:gridCol w="4471333">
                  <a:extLst>
                    <a:ext uri="{9D8B030D-6E8A-4147-A177-3AD203B41FA5}">
                      <a16:colId xmlns:a16="http://schemas.microsoft.com/office/drawing/2014/main" val="31356835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CO" sz="2400" i="0" dirty="0" err="1">
                          <a:solidFill>
                            <a:schemeClr val="tx1"/>
                          </a:solidFill>
                        </a:rPr>
                        <a:t>for</a:t>
                      </a:r>
                      <a:r>
                        <a:rPr lang="es-CO" sz="2400" i="0" dirty="0">
                          <a:solidFill>
                            <a:schemeClr val="tx1"/>
                          </a:solidFill>
                        </a:rPr>
                        <a:t> (let i = 0; i &lt; </a:t>
                      </a:r>
                      <a:r>
                        <a:rPr lang="es-CO" sz="2400" i="0" dirty="0" err="1">
                          <a:solidFill>
                            <a:schemeClr val="tx1"/>
                          </a:solidFill>
                        </a:rPr>
                        <a:t>numeros.length</a:t>
                      </a:r>
                      <a:r>
                        <a:rPr lang="es-CO" sz="2400" i="0" dirty="0">
                          <a:solidFill>
                            <a:schemeClr val="tx1"/>
                          </a:solidFill>
                        </a:rPr>
                        <a:t>; i++) {</a:t>
                      </a:r>
                    </a:p>
                    <a:p>
                      <a:r>
                        <a:rPr lang="es-CO" sz="2400" i="0" dirty="0">
                          <a:solidFill>
                            <a:schemeClr val="tx1"/>
                          </a:solidFill>
                        </a:rPr>
                        <a:t>     suma=</a:t>
                      </a:r>
                      <a:r>
                        <a:rPr lang="es-CO" sz="2400" i="0" dirty="0" err="1">
                          <a:solidFill>
                            <a:schemeClr val="tx1"/>
                          </a:solidFill>
                        </a:rPr>
                        <a:t>suma+numeros</a:t>
                      </a:r>
                      <a:r>
                        <a:rPr lang="es-CO" sz="2400" i="0" dirty="0">
                          <a:solidFill>
                            <a:schemeClr val="tx1"/>
                          </a:solidFill>
                        </a:rPr>
                        <a:t>[i];</a:t>
                      </a:r>
                    </a:p>
                    <a:p>
                      <a:r>
                        <a:rPr lang="es-CO" sz="2400" i="0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2400" i="0" dirty="0" err="1">
                          <a:solidFill>
                            <a:schemeClr val="tx1"/>
                          </a:solidFill>
                        </a:rPr>
                        <a:t>for</a:t>
                      </a:r>
                      <a:r>
                        <a:rPr lang="es-CO" sz="2400" i="0" dirty="0">
                          <a:solidFill>
                            <a:schemeClr val="tx1"/>
                          </a:solidFill>
                        </a:rPr>
                        <a:t> (</a:t>
                      </a:r>
                      <a:r>
                        <a:rPr lang="es-CO" sz="2400" i="0" dirty="0" err="1">
                          <a:solidFill>
                            <a:schemeClr val="tx1"/>
                          </a:solidFill>
                        </a:rPr>
                        <a:t>let</a:t>
                      </a:r>
                      <a:r>
                        <a:rPr lang="es-CO" sz="2400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s-CO" sz="2400" i="0" dirty="0" err="1">
                          <a:solidFill>
                            <a:schemeClr val="tx1"/>
                          </a:solidFill>
                        </a:rPr>
                        <a:t>num</a:t>
                      </a:r>
                      <a:r>
                        <a:rPr lang="es-CO" sz="2400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s-CO" sz="2400" i="1" dirty="0" err="1">
                          <a:solidFill>
                            <a:srgbClr val="FF0000"/>
                          </a:solidFill>
                        </a:rPr>
                        <a:t>of</a:t>
                      </a:r>
                      <a:r>
                        <a:rPr lang="es-CO" sz="2400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s-CO" sz="2400" i="0" dirty="0" err="1">
                          <a:solidFill>
                            <a:schemeClr val="tx1"/>
                          </a:solidFill>
                        </a:rPr>
                        <a:t>numeros</a:t>
                      </a:r>
                      <a:r>
                        <a:rPr lang="es-CO" sz="2400" i="0" dirty="0">
                          <a:solidFill>
                            <a:schemeClr val="tx1"/>
                          </a:solidFill>
                        </a:rPr>
                        <a:t>) {</a:t>
                      </a:r>
                    </a:p>
                    <a:p>
                      <a:r>
                        <a:rPr lang="es-CO" sz="2400" i="0" dirty="0">
                          <a:solidFill>
                            <a:schemeClr val="tx1"/>
                          </a:solidFill>
                        </a:rPr>
                        <a:t>     </a:t>
                      </a:r>
                      <a:r>
                        <a:rPr lang="es-CO" sz="2400" i="0" dirty="0" err="1">
                          <a:solidFill>
                            <a:schemeClr val="tx1"/>
                          </a:solidFill>
                        </a:rPr>
                        <a:t>document.write</a:t>
                      </a:r>
                      <a:r>
                        <a:rPr lang="es-CO" sz="2400" i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s-CO" sz="2400" i="0" dirty="0" err="1">
                          <a:solidFill>
                            <a:schemeClr val="tx1"/>
                          </a:solidFill>
                        </a:rPr>
                        <a:t>num</a:t>
                      </a:r>
                      <a:r>
                        <a:rPr lang="es-CO" sz="2400" i="0" dirty="0">
                          <a:solidFill>
                            <a:schemeClr val="tx1"/>
                          </a:solidFill>
                        </a:rPr>
                        <a:t>);</a:t>
                      </a:r>
                    </a:p>
                    <a:p>
                      <a:r>
                        <a:rPr lang="es-CO" sz="2400" i="0" dirty="0">
                          <a:solidFill>
                            <a:schemeClr val="tx1"/>
                          </a:solidFill>
                        </a:rPr>
                        <a:t>     </a:t>
                      </a:r>
                      <a:r>
                        <a:rPr lang="es-CO" sz="2400" i="0" dirty="0" err="1">
                          <a:solidFill>
                            <a:schemeClr val="tx1"/>
                          </a:solidFill>
                        </a:rPr>
                        <a:t>document.write</a:t>
                      </a:r>
                      <a:r>
                        <a:rPr lang="es-CO" sz="2400" i="0" dirty="0">
                          <a:solidFill>
                            <a:schemeClr val="tx1"/>
                          </a:solidFill>
                        </a:rPr>
                        <a:t>(‘&lt;</a:t>
                      </a:r>
                      <a:r>
                        <a:rPr lang="es-CO" sz="2400" i="0" dirty="0" err="1">
                          <a:solidFill>
                            <a:schemeClr val="tx1"/>
                          </a:solidFill>
                        </a:rPr>
                        <a:t>br</a:t>
                      </a:r>
                      <a:r>
                        <a:rPr lang="es-CO" sz="2400" i="0" dirty="0">
                          <a:solidFill>
                            <a:schemeClr val="tx1"/>
                          </a:solidFill>
                        </a:rPr>
                        <a:t>&gt;’);</a:t>
                      </a:r>
                    </a:p>
                    <a:p>
                      <a:r>
                        <a:rPr lang="es-CO" sz="2400" i="0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5981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2400" i="0" dirty="0" err="1">
                          <a:solidFill>
                            <a:schemeClr val="tx1"/>
                          </a:solidFill>
                        </a:rPr>
                        <a:t>let</a:t>
                      </a:r>
                      <a:r>
                        <a:rPr lang="es-CO" sz="2400" i="0" dirty="0">
                          <a:solidFill>
                            <a:schemeClr val="tx1"/>
                          </a:solidFill>
                        </a:rPr>
                        <a:t> i=0;</a:t>
                      </a:r>
                    </a:p>
                    <a:p>
                      <a:r>
                        <a:rPr lang="es-CO" sz="2400" i="0" dirty="0" err="1">
                          <a:solidFill>
                            <a:schemeClr val="tx1"/>
                          </a:solidFill>
                        </a:rPr>
                        <a:t>while</a:t>
                      </a:r>
                      <a:r>
                        <a:rPr lang="es-CO" sz="2400" i="0" dirty="0">
                          <a:solidFill>
                            <a:schemeClr val="tx1"/>
                          </a:solidFill>
                        </a:rPr>
                        <a:t>(i&lt;</a:t>
                      </a:r>
                      <a:r>
                        <a:rPr lang="es-CO" sz="2400" i="0" dirty="0" err="1">
                          <a:solidFill>
                            <a:schemeClr val="tx1"/>
                          </a:solidFill>
                        </a:rPr>
                        <a:t>numeros.length</a:t>
                      </a:r>
                      <a:r>
                        <a:rPr lang="es-CO" sz="2400" i="0" dirty="0">
                          <a:solidFill>
                            <a:schemeClr val="tx1"/>
                          </a:solidFill>
                        </a:rPr>
                        <a:t>){</a:t>
                      </a:r>
                    </a:p>
                    <a:p>
                      <a:r>
                        <a:rPr lang="es-CO" sz="2400" i="0" dirty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es-CO" sz="2400" i="0" dirty="0" err="1">
                          <a:solidFill>
                            <a:schemeClr val="tx1"/>
                          </a:solidFill>
                        </a:rPr>
                        <a:t>document.write</a:t>
                      </a:r>
                      <a:r>
                        <a:rPr lang="es-CO" sz="2400" i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s-CO" sz="2400" i="0" dirty="0" err="1">
                          <a:solidFill>
                            <a:schemeClr val="tx1"/>
                          </a:solidFill>
                        </a:rPr>
                        <a:t>numeros</a:t>
                      </a:r>
                      <a:r>
                        <a:rPr lang="es-CO" sz="2400" i="0" dirty="0">
                          <a:solidFill>
                            <a:schemeClr val="tx1"/>
                          </a:solidFill>
                        </a:rPr>
                        <a:t>[i]);</a:t>
                      </a:r>
                    </a:p>
                    <a:p>
                      <a:r>
                        <a:rPr lang="es-CO" sz="2400" i="0" dirty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es-CO" sz="2400" i="0" dirty="0" err="1">
                          <a:solidFill>
                            <a:schemeClr val="tx1"/>
                          </a:solidFill>
                        </a:rPr>
                        <a:t>document.write</a:t>
                      </a:r>
                      <a:r>
                        <a:rPr lang="es-CO" sz="2400" i="0" dirty="0">
                          <a:solidFill>
                            <a:schemeClr val="tx1"/>
                          </a:solidFill>
                        </a:rPr>
                        <a:t>('&lt;</a:t>
                      </a:r>
                      <a:r>
                        <a:rPr lang="es-CO" sz="2400" i="0" dirty="0" err="1">
                          <a:solidFill>
                            <a:schemeClr val="tx1"/>
                          </a:solidFill>
                        </a:rPr>
                        <a:t>br</a:t>
                      </a:r>
                      <a:r>
                        <a:rPr lang="es-CO" sz="2400" i="0" dirty="0">
                          <a:solidFill>
                            <a:schemeClr val="tx1"/>
                          </a:solidFill>
                        </a:rPr>
                        <a:t>&gt;');</a:t>
                      </a:r>
                    </a:p>
                    <a:p>
                      <a:r>
                        <a:rPr lang="es-CO" sz="2400" i="0" dirty="0">
                          <a:solidFill>
                            <a:schemeClr val="tx1"/>
                          </a:solidFill>
                        </a:rPr>
                        <a:t>  i++;</a:t>
                      </a:r>
                    </a:p>
                    <a:p>
                      <a:r>
                        <a:rPr lang="es-CO" sz="2400" i="0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2400" i="0" dirty="0" err="1">
                          <a:solidFill>
                            <a:schemeClr val="tx1"/>
                          </a:solidFill>
                        </a:rPr>
                        <a:t>let</a:t>
                      </a:r>
                      <a:r>
                        <a:rPr lang="es-CO" sz="2400" i="0" dirty="0">
                          <a:solidFill>
                            <a:schemeClr val="tx1"/>
                          </a:solidFill>
                        </a:rPr>
                        <a:t> i=0;</a:t>
                      </a:r>
                    </a:p>
                    <a:p>
                      <a:r>
                        <a:rPr lang="es-CO" sz="2400" i="0" dirty="0">
                          <a:solidFill>
                            <a:schemeClr val="tx1"/>
                          </a:solidFill>
                        </a:rPr>
                        <a:t>do {</a:t>
                      </a:r>
                    </a:p>
                    <a:p>
                      <a:r>
                        <a:rPr lang="es-CO" sz="2400" i="0" dirty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es-CO" sz="2400" i="0" dirty="0" err="1">
                          <a:solidFill>
                            <a:schemeClr val="tx1"/>
                          </a:solidFill>
                        </a:rPr>
                        <a:t>document.write</a:t>
                      </a:r>
                      <a:r>
                        <a:rPr lang="es-CO" sz="2400" i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s-CO" sz="2400" i="0" dirty="0" err="1">
                          <a:solidFill>
                            <a:schemeClr val="tx1"/>
                          </a:solidFill>
                        </a:rPr>
                        <a:t>numeros</a:t>
                      </a:r>
                      <a:r>
                        <a:rPr lang="es-CO" sz="2400" i="0" dirty="0">
                          <a:solidFill>
                            <a:schemeClr val="tx1"/>
                          </a:solidFill>
                        </a:rPr>
                        <a:t>[i]);</a:t>
                      </a:r>
                    </a:p>
                    <a:p>
                      <a:r>
                        <a:rPr lang="es-CO" sz="2400" i="0" dirty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es-CO" sz="2400" i="0" dirty="0" err="1">
                          <a:solidFill>
                            <a:schemeClr val="tx1"/>
                          </a:solidFill>
                        </a:rPr>
                        <a:t>document.write</a:t>
                      </a:r>
                      <a:r>
                        <a:rPr lang="es-CO" sz="2400" i="0" dirty="0">
                          <a:solidFill>
                            <a:schemeClr val="tx1"/>
                          </a:solidFill>
                        </a:rPr>
                        <a:t>('&lt;</a:t>
                      </a:r>
                      <a:r>
                        <a:rPr lang="es-CO" sz="2400" i="0" dirty="0" err="1">
                          <a:solidFill>
                            <a:schemeClr val="tx1"/>
                          </a:solidFill>
                        </a:rPr>
                        <a:t>br</a:t>
                      </a:r>
                      <a:r>
                        <a:rPr lang="es-CO" sz="2400" i="0" dirty="0">
                          <a:solidFill>
                            <a:schemeClr val="tx1"/>
                          </a:solidFill>
                        </a:rPr>
                        <a:t>&gt;');</a:t>
                      </a:r>
                    </a:p>
                    <a:p>
                      <a:r>
                        <a:rPr lang="es-CO" sz="2400" i="0" dirty="0">
                          <a:solidFill>
                            <a:schemeClr val="tx1"/>
                          </a:solidFill>
                        </a:rPr>
                        <a:t>  i++;</a:t>
                      </a:r>
                    </a:p>
                    <a:p>
                      <a:r>
                        <a:rPr lang="es-CO" sz="2400" i="0" dirty="0">
                          <a:solidFill>
                            <a:schemeClr val="tx1"/>
                          </a:solidFill>
                        </a:rPr>
                        <a:t>} </a:t>
                      </a:r>
                      <a:r>
                        <a:rPr lang="es-CO" sz="2400" i="0" dirty="0" err="1">
                          <a:solidFill>
                            <a:schemeClr val="tx1"/>
                          </a:solidFill>
                        </a:rPr>
                        <a:t>while</a:t>
                      </a:r>
                      <a:r>
                        <a:rPr lang="es-CO" sz="2400" i="0" dirty="0">
                          <a:solidFill>
                            <a:schemeClr val="tx1"/>
                          </a:solidFill>
                        </a:rPr>
                        <a:t>(i&lt;</a:t>
                      </a:r>
                      <a:r>
                        <a:rPr lang="es-CO" sz="2400" i="0" dirty="0" err="1">
                          <a:solidFill>
                            <a:schemeClr val="tx1"/>
                          </a:solidFill>
                        </a:rPr>
                        <a:t>numeros.length</a:t>
                      </a:r>
                      <a:r>
                        <a:rPr lang="es-CO" sz="2400" i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0535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50141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C573CF-A2F6-FE8D-B1FD-20BF225FB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1588"/>
            <a:ext cx="10515600" cy="4324203"/>
          </a:xfrm>
        </p:spPr>
        <p:txBody>
          <a:bodyPr>
            <a:noAutofit/>
          </a:bodyPr>
          <a:lstStyle/>
          <a:p>
            <a:pPr marL="514350" indent="-514350" algn="just">
              <a:buAutoNum type="arabicPeriod"/>
            </a:pPr>
            <a:r>
              <a:rPr lang="es-CO" sz="2800" dirty="0"/>
              <a:t>Crear un array para guardar los nombres de los días de la semana, empezando por el índice 0, para lunes. El usuario debe digitar un número entre 1 y 7 y el script, devolver el nombre del día. Se debe validar la información ingresada por el usuario.</a:t>
            </a:r>
            <a:endParaRPr lang="es-CO" dirty="0"/>
          </a:p>
          <a:p>
            <a:pPr marL="514350" indent="-514350" algn="just">
              <a:buAutoNum type="arabicPeriod"/>
            </a:pPr>
            <a:r>
              <a:rPr lang="es-ES" dirty="0"/>
              <a:t>Dado un arreglo de números, cree un programa que sume todos los números que forman el array.</a:t>
            </a:r>
          </a:p>
          <a:p>
            <a:pPr marL="514350" indent="-514350" algn="just">
              <a:buAutoNum type="arabicPeriod"/>
            </a:pPr>
            <a:r>
              <a:rPr lang="es-ES" dirty="0"/>
              <a:t>Diseñe un script que vaya leyendo números y guardándolos en un array. Una vez lleno mostrará el array y deberá decir cuantos números son pares y cuantos son impares. La entrada de datos termina cuando el usuario teclea 0 o un valor no numérico.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727239C1-989D-0BE1-9BA8-F5A90423A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576"/>
            <a:ext cx="10515600" cy="885825"/>
          </a:xfrm>
        </p:spPr>
        <p:txBody>
          <a:bodyPr>
            <a:normAutofit/>
          </a:bodyPr>
          <a:lstStyle/>
          <a:p>
            <a:r>
              <a:rPr lang="es-CO" sz="4800" dirty="0"/>
              <a:t>JavaScript</a:t>
            </a:r>
            <a:r>
              <a:rPr lang="es-CO" sz="4000" dirty="0"/>
              <a:t> – Ejercicios de </a:t>
            </a:r>
            <a:r>
              <a:rPr lang="es-CO" sz="4000" dirty="0" err="1"/>
              <a:t>Arrays</a:t>
            </a:r>
            <a:endParaRPr lang="es-CO" sz="4000" dirty="0"/>
          </a:p>
        </p:txBody>
      </p:sp>
    </p:spTree>
    <p:extLst>
      <p:ext uri="{BB962C8B-B14F-4D97-AF65-F5344CB8AC3E}">
        <p14:creationId xmlns:p14="http://schemas.microsoft.com/office/powerpoint/2010/main" val="668613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C573CF-A2F6-FE8D-B1FD-20BF225FB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1588"/>
            <a:ext cx="10515600" cy="4324203"/>
          </a:xfrm>
        </p:spPr>
        <p:txBody>
          <a:bodyPr>
            <a:noAutofit/>
          </a:bodyPr>
          <a:lstStyle/>
          <a:p>
            <a:pPr marL="514350" indent="-514350" algn="just">
              <a:buAutoNum type="arabicPeriod"/>
            </a:pPr>
            <a:r>
              <a:rPr lang="es-CO" sz="2800" dirty="0"/>
              <a:t>PRODUCTO: </a:t>
            </a:r>
          </a:p>
          <a:p>
            <a:pPr lvl="1" algn="just"/>
            <a:r>
              <a:rPr lang="es-CO" dirty="0"/>
              <a:t>Ejercicio de los huevos</a:t>
            </a:r>
          </a:p>
          <a:p>
            <a:pPr lvl="1" algn="just"/>
            <a:r>
              <a:rPr lang="es-CO" dirty="0"/>
              <a:t>Tres ejercicios de </a:t>
            </a:r>
            <a:r>
              <a:rPr lang="es-CO" dirty="0" err="1"/>
              <a:t>arrays</a:t>
            </a:r>
            <a:endParaRPr lang="es-CO" dirty="0"/>
          </a:p>
          <a:p>
            <a:pPr lvl="1" algn="just"/>
            <a:r>
              <a:rPr lang="es-CO" dirty="0"/>
              <a:t>Generar los cuatro (4) ejercicios como funciones, en un menú de opciones</a:t>
            </a:r>
          </a:p>
          <a:p>
            <a:pPr marL="514350" indent="-514350" algn="just">
              <a:buAutoNum type="arabicPeriod"/>
            </a:pPr>
            <a:r>
              <a:rPr lang="es-CO" sz="2800" dirty="0"/>
              <a:t>DESEMPEÑO: Asistencia – Llegadas tarde y participación</a:t>
            </a:r>
            <a:endParaRPr lang="es-CO" dirty="0"/>
          </a:p>
          <a:p>
            <a:pPr marL="514350" indent="-514350" algn="just">
              <a:buAutoNum type="arabicPeriod"/>
            </a:pPr>
            <a:r>
              <a:rPr lang="es-ES" dirty="0"/>
              <a:t>CONOCIMIENTO: Dos ejercicios</a:t>
            </a:r>
          </a:p>
          <a:p>
            <a:pPr marL="514350" indent="-514350" algn="just">
              <a:buAutoNum type="arabicPeriod"/>
            </a:pPr>
            <a:endParaRPr lang="es-ES" dirty="0"/>
          </a:p>
          <a:p>
            <a:pPr marL="0" indent="0" algn="just">
              <a:buNone/>
            </a:pPr>
            <a:r>
              <a:rPr lang="es-ES" dirty="0">
                <a:hlinkClick r:id="rId2"/>
              </a:rPr>
              <a:t>https://www.youtube.com/watch?v=ImBVutNxEOE</a:t>
            </a:r>
          </a:p>
          <a:p>
            <a:pPr marL="0" indent="0" algn="just">
              <a:buNone/>
            </a:pPr>
            <a:r>
              <a:rPr lang="es-ES" dirty="0">
                <a:hlinkClick r:id="rId2"/>
              </a:rPr>
              <a:t>https://www.youtube.com/watch?v=10hVKeSwx88&amp;t=193s</a:t>
            </a:r>
            <a:endParaRPr lang="es-ES" dirty="0"/>
          </a:p>
          <a:p>
            <a:pPr marL="0" indent="0" algn="just">
              <a:buNone/>
            </a:pPr>
            <a:endParaRPr lang="es-E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727239C1-989D-0BE1-9BA8-F5A90423A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576"/>
            <a:ext cx="10515600" cy="885825"/>
          </a:xfrm>
        </p:spPr>
        <p:txBody>
          <a:bodyPr>
            <a:normAutofit/>
          </a:bodyPr>
          <a:lstStyle/>
          <a:p>
            <a:r>
              <a:rPr lang="es-CO" sz="4800" dirty="0"/>
              <a:t>JavaScript</a:t>
            </a:r>
            <a:r>
              <a:rPr lang="es-CO" sz="4000" dirty="0"/>
              <a:t> – EVALUACIÓN (17 de abril)</a:t>
            </a:r>
          </a:p>
        </p:txBody>
      </p:sp>
    </p:spTree>
    <p:extLst>
      <p:ext uri="{BB962C8B-B14F-4D97-AF65-F5344CB8AC3E}">
        <p14:creationId xmlns:p14="http://schemas.microsoft.com/office/powerpoint/2010/main" val="32185285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F9BD500A-FC70-B2C5-4741-9FE4E4072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6352"/>
            <a:ext cx="10515600" cy="949327"/>
          </a:xfrm>
        </p:spPr>
        <p:txBody>
          <a:bodyPr>
            <a:normAutofit/>
          </a:bodyPr>
          <a:lstStyle/>
          <a:p>
            <a:r>
              <a:rPr lang="es-CO" sz="4000" dirty="0"/>
              <a:t>Funciones en JavaScript - Declaración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05F0FAE5-1E08-7C67-F90E-BAD6CA012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081" y="1057278"/>
            <a:ext cx="10891838" cy="562927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MX" dirty="0"/>
              <a:t>Una declaración de función, consta de la palabra </a:t>
            </a:r>
            <a:r>
              <a:rPr lang="es-MX" b="1" i="1" dirty="0" err="1">
                <a:solidFill>
                  <a:srgbClr val="FF0000"/>
                </a:solidFill>
              </a:rPr>
              <a:t>function</a:t>
            </a:r>
            <a:r>
              <a:rPr lang="es-MX" dirty="0"/>
              <a:t>, seguida de:</a:t>
            </a:r>
          </a:p>
          <a:p>
            <a:r>
              <a:rPr lang="es-MX" dirty="0"/>
              <a:t>El nombre de la función.</a:t>
            </a:r>
          </a:p>
          <a:p>
            <a:r>
              <a:rPr lang="es-MX" dirty="0"/>
              <a:t>Los parámetros de la función, entre paréntesis y separados por comas.</a:t>
            </a:r>
          </a:p>
          <a:p>
            <a:r>
              <a:rPr lang="es-MX" dirty="0"/>
              <a:t>Las sentencias de JavaScript que definen la función, van entre llaves, { ... }.</a:t>
            </a:r>
          </a:p>
          <a:p>
            <a:pPr marL="0" indent="0">
              <a:buNone/>
            </a:pPr>
            <a:r>
              <a:rPr lang="es-MX" dirty="0"/>
              <a:t>Por ejemplo, el siguiente código define una función llamada </a:t>
            </a:r>
            <a:r>
              <a:rPr lang="es-MX" b="1" i="1" dirty="0" err="1"/>
              <a:t>square</a:t>
            </a:r>
            <a:r>
              <a:rPr lang="es-MX" dirty="0"/>
              <a:t>:</a:t>
            </a:r>
          </a:p>
          <a:p>
            <a:pPr marL="0" indent="0">
              <a:buNone/>
            </a:pPr>
            <a:r>
              <a:rPr lang="es-MX" b="1" i="1" dirty="0"/>
              <a:t>	</a:t>
            </a:r>
            <a:r>
              <a:rPr lang="es-MX" b="1" i="1" dirty="0" err="1"/>
              <a:t>function</a:t>
            </a:r>
            <a:r>
              <a:rPr lang="es-MX" b="1" i="1" dirty="0"/>
              <a:t> </a:t>
            </a:r>
            <a:r>
              <a:rPr lang="es-MX" b="1" i="1" dirty="0" err="1"/>
              <a:t>square</a:t>
            </a:r>
            <a:r>
              <a:rPr lang="es-MX" b="1" i="1" dirty="0"/>
              <a:t>(</a:t>
            </a:r>
            <a:r>
              <a:rPr lang="es-MX" b="1" i="1" dirty="0" err="1"/>
              <a:t>number</a:t>
            </a:r>
            <a:r>
              <a:rPr lang="es-MX" b="1" i="1" dirty="0"/>
              <a:t>) {</a:t>
            </a:r>
          </a:p>
          <a:p>
            <a:pPr marL="0" indent="0">
              <a:buNone/>
            </a:pPr>
            <a:r>
              <a:rPr lang="es-MX" b="1" i="1" dirty="0"/>
              <a:t> 	 </a:t>
            </a:r>
            <a:r>
              <a:rPr lang="es-MX" b="1" i="1" dirty="0" err="1"/>
              <a:t>return</a:t>
            </a:r>
            <a:r>
              <a:rPr lang="es-MX" b="1" i="1" dirty="0"/>
              <a:t> </a:t>
            </a:r>
            <a:r>
              <a:rPr lang="es-MX" b="1" i="1" dirty="0" err="1"/>
              <a:t>number</a:t>
            </a:r>
            <a:r>
              <a:rPr lang="es-MX" b="1" i="1" dirty="0"/>
              <a:t> * </a:t>
            </a:r>
            <a:r>
              <a:rPr lang="es-MX" b="1" i="1" dirty="0" err="1"/>
              <a:t>number</a:t>
            </a:r>
            <a:r>
              <a:rPr lang="es-MX" b="1" i="1" dirty="0"/>
              <a:t>;</a:t>
            </a:r>
          </a:p>
          <a:p>
            <a:pPr marL="0" indent="0">
              <a:buNone/>
            </a:pPr>
            <a:r>
              <a:rPr lang="es-MX" b="1" i="1" dirty="0"/>
              <a:t>	}</a:t>
            </a:r>
          </a:p>
          <a:p>
            <a:pPr marL="0" indent="0">
              <a:buNone/>
            </a:pPr>
            <a:r>
              <a:rPr lang="es-MX" dirty="0"/>
              <a:t>La función </a:t>
            </a:r>
            <a:r>
              <a:rPr lang="es-MX" dirty="0" err="1"/>
              <a:t>square</a:t>
            </a:r>
            <a:r>
              <a:rPr lang="es-MX" dirty="0"/>
              <a:t> toma un parámetro </a:t>
            </a:r>
            <a:r>
              <a:rPr lang="es-MX" b="1" i="1" dirty="0" err="1"/>
              <a:t>number</a:t>
            </a:r>
            <a:r>
              <a:rPr lang="es-MX" dirty="0"/>
              <a:t>, y devuelve este parámetro multiplicado por sí mismo. La instrucción </a:t>
            </a:r>
            <a:r>
              <a:rPr lang="es-MX" b="1" i="1" dirty="0" err="1"/>
              <a:t>return</a:t>
            </a:r>
            <a:r>
              <a:rPr lang="es-MX" dirty="0"/>
              <a:t> especifica el valor devuelto por la función.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9881471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949BBB86-610F-8146-B9B5-B23153EB57F9}"/>
              </a:ext>
            </a:extLst>
          </p:cNvPr>
          <p:cNvSpPr txBox="1"/>
          <p:nvPr/>
        </p:nvSpPr>
        <p:spPr>
          <a:xfrm>
            <a:off x="1628775" y="1243013"/>
            <a:ext cx="812958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hlinkClick r:id="" action="ppaction://noaction"/>
              </a:rPr>
              <a:t>https://www.youtube.com/watch?v=JLiWZETdqTI&amp;list=PL2Z95CSZ1N4HXvLWg8oL4IpyJx27HafcD&amp;index=11</a:t>
            </a:r>
          </a:p>
          <a:p>
            <a:r>
              <a:rPr lang="es-CO" dirty="0">
                <a:hlinkClick r:id="" action="ppaction://noaction"/>
              </a:rPr>
              <a:t>https://didacticode.com/curso/curso-javascript/leccion/javascript-1-6-variables-javascript/</a:t>
            </a:r>
          </a:p>
          <a:p>
            <a:r>
              <a:rPr lang="es-CO" dirty="0">
                <a:hlinkClick r:id="" action="ppaction://noaction"/>
              </a:rPr>
              <a:t>https://www.udemy.com/course/javascript-introduccion-a-la-programacion/learn/lecture/17491336#content</a:t>
            </a:r>
          </a:p>
          <a:p>
            <a:r>
              <a:rPr lang="es-CO" dirty="0">
                <a:hlinkClick r:id="" action="ppaction://noaction"/>
              </a:rPr>
              <a:t>https://www.w3schools.com/js/js_arithmetic.asp</a:t>
            </a:r>
          </a:p>
          <a:p>
            <a:r>
              <a:rPr lang="es-CO" dirty="0">
                <a:hlinkClick r:id="rId2"/>
              </a:rPr>
              <a:t>https://developer.mozilla.org/es/docs/Web/JavaScript/Guide/Expressions_and_operators#aritmeticos</a:t>
            </a:r>
            <a:endParaRPr lang="es-CO" dirty="0"/>
          </a:p>
          <a:p>
            <a:r>
              <a:rPr lang="es-CO" dirty="0">
                <a:hlinkClick r:id="rId3"/>
              </a:rPr>
              <a:t>https://www.aulascript.com/evaluar/arrays_inicio.html</a:t>
            </a:r>
            <a:endParaRPr lang="es-CO" dirty="0"/>
          </a:p>
          <a:p>
            <a:r>
              <a:rPr lang="es-CO" dirty="0">
                <a:hlinkClick r:id="rId4"/>
              </a:rPr>
              <a:t>https://platzi.com/blog/platzihero-practica-con-12-ejercicios-de-arrays-en-javascript-news/</a:t>
            </a:r>
            <a:endParaRPr lang="es-CO" dirty="0"/>
          </a:p>
          <a:p>
            <a:r>
              <a:rPr lang="es-CO" dirty="0">
                <a:hlinkClick r:id="rId5"/>
              </a:rPr>
              <a:t>https://www.digitallearning.es/intro-programacion-js/ejercicio-con-arrays.html</a:t>
            </a:r>
            <a:endParaRPr lang="es-CO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01073863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1e58a82-3257-4d17-aa04-aa695e39addf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2C541CDB6EC544B901621DD096179E2" ma:contentTypeVersion="13" ma:contentTypeDescription="Create a new document." ma:contentTypeScope="" ma:versionID="139a042f0fbe093629c7596a2ccd9816">
  <xsd:schema xmlns:xsd="http://www.w3.org/2001/XMLSchema" xmlns:xs="http://www.w3.org/2001/XMLSchema" xmlns:p="http://schemas.microsoft.com/office/2006/metadata/properties" xmlns:ns3="11e58a82-3257-4d17-aa04-aa695e39addf" xmlns:ns4="70f8e600-44a1-4a39-a7ca-6ac0ea449fc7" targetNamespace="http://schemas.microsoft.com/office/2006/metadata/properties" ma:root="true" ma:fieldsID="7154c6f3bb9d8a44070c0b8c474be1c4" ns3:_="" ns4:_="">
    <xsd:import namespace="11e58a82-3257-4d17-aa04-aa695e39addf"/>
    <xsd:import namespace="70f8e600-44a1-4a39-a7ca-6ac0ea449fc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e58a82-3257-4d17-aa04-aa695e39ad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f8e600-44a1-4a39-a7ca-6ac0ea449fc7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A077E41-75C0-44B8-AE0A-1D55C125912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7E26501-C543-414D-9E15-B14224DE7A64}">
  <ds:schemaRefs>
    <ds:schemaRef ds:uri="http://purl.org/dc/elements/1.1/"/>
    <ds:schemaRef ds:uri="http://www.w3.org/XML/1998/namespace"/>
    <ds:schemaRef ds:uri="http://purl.org/dc/terms/"/>
    <ds:schemaRef ds:uri="70f8e600-44a1-4a39-a7ca-6ac0ea449fc7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11e58a82-3257-4d17-aa04-aa695e39addf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47EE0BF9-A2BD-46FC-B75B-EB9D471449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1e58a82-3257-4d17-aa04-aa695e39addf"/>
    <ds:schemaRef ds:uri="70f8e600-44a1-4a39-a7ca-6ac0ea449f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1264</TotalTime>
  <Words>3144</Words>
  <Application>Microsoft Office PowerPoint</Application>
  <PresentationFormat>Panorámica</PresentationFormat>
  <Paragraphs>379</Paragraphs>
  <Slides>31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31</vt:i4>
      </vt:variant>
    </vt:vector>
  </HeadingPairs>
  <TitlesOfParts>
    <vt:vector size="38" baseType="lpstr">
      <vt:lpstr>Arial</vt:lpstr>
      <vt:lpstr>Calibri</vt:lpstr>
      <vt:lpstr>Calibri Light</vt:lpstr>
      <vt:lpstr>Consolas</vt:lpstr>
      <vt:lpstr>Source Sans Pro</vt:lpstr>
      <vt:lpstr>Tema de Office</vt:lpstr>
      <vt:lpstr>Equation.3</vt:lpstr>
      <vt:lpstr>JavaScript - Características</vt:lpstr>
      <vt:lpstr>JavaScript - Integración de código</vt:lpstr>
      <vt:lpstr>Código JavaScript en el Head</vt:lpstr>
      <vt:lpstr>Código JavaScript en el Body</vt:lpstr>
      <vt:lpstr>Código JavaScript en un archivo externo</vt:lpstr>
      <vt:lpstr>JavaScript – Variables</vt:lpstr>
      <vt:lpstr>JavaScript – Cuándo usar var, let o const</vt:lpstr>
      <vt:lpstr>JavaScript – Tipos de Datos</vt:lpstr>
      <vt:lpstr>JavaScript – Operadores</vt:lpstr>
      <vt:lpstr>JavaScript – Operadores</vt:lpstr>
      <vt:lpstr>JavaScript – Captura de Datos</vt:lpstr>
      <vt:lpstr>JavaScript – Condicionales</vt:lpstr>
      <vt:lpstr>JavaScript – Condicionales (Ejemplo)</vt:lpstr>
      <vt:lpstr>JavaScript – Sentencia Switch</vt:lpstr>
      <vt:lpstr>JavaScript – Sentencia Switch (Ejemplo)</vt:lpstr>
      <vt:lpstr>JavaScript – Bucles For – While y Do while</vt:lpstr>
      <vt:lpstr>JavaScript – Bucles For – While y Do while</vt:lpstr>
      <vt:lpstr>Ejercicio</vt:lpstr>
      <vt:lpstr>Ejercicio</vt:lpstr>
      <vt:lpstr>Ejercicio</vt:lpstr>
      <vt:lpstr>JavaScript – Objeto Math</vt:lpstr>
      <vt:lpstr>JavaScript – Objeto String</vt:lpstr>
      <vt:lpstr>JavaScript - Arrays</vt:lpstr>
      <vt:lpstr>JavaScript – Declaración de Arrays</vt:lpstr>
      <vt:lpstr>JavaScript – Trabajar con elementos de Arrays</vt:lpstr>
      <vt:lpstr>JavaScript – Métodos pop/push, shift/unshift en Arrays</vt:lpstr>
      <vt:lpstr>JavaScript – Bucles en Arrays</vt:lpstr>
      <vt:lpstr>JavaScript – Ejercicios de Arrays</vt:lpstr>
      <vt:lpstr>JavaScript – EVALUACIÓN (17 de abril)</vt:lpstr>
      <vt:lpstr>Funciones en JavaScript - Declaración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Funciones en JavaScript - Declaración</dc:title>
  <dc:creator>Jorge Eduardo Perez Garcia</dc:creator>
  <cp:lastModifiedBy>Cesde</cp:lastModifiedBy>
  <cp:revision>59</cp:revision>
  <dcterms:created xsi:type="dcterms:W3CDTF">2024-08-02T00:27:09Z</dcterms:created>
  <dcterms:modified xsi:type="dcterms:W3CDTF">2026-04-10T18:33:39Z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0x01010012C541CDB6EC544B901621DD096179E2</vt:lpwstr>
  </property>
</Properties>
</file>